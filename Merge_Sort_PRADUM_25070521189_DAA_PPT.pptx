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charts/chart1.xml" ContentType="application/vnd.openxmlformats-officedocument.drawingml.char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0" sz="1200" spc="-1" strike="noStrike">
                <a:solidFill>
                  <a:srgbClr val="1c1a33"/>
                </a:solidFill>
                <a:latin typeface="Calibri"/>
              </a:defRPr>
            </a:pPr>
            <a:r>
              <a:rPr b="0" sz="1200" spc="-1" strike="noStrike">
                <a:solidFill>
                  <a:srgbClr val="1c1a33"/>
                </a:solidFill>
                <a:latin typeface="Calibri"/>
              </a:rPr>
              <a:t>Steps needed as n grows (log scale)</a:t>
            </a:r>
          </a:p>
        </c:rich>
      </c:tx>
      <c:overlay val="0"/>
      <c:spPr>
        <a:noFill/>
        <a:ln w="0">
          <a:noFill/>
        </a:ln>
      </c:spPr>
    </c:title>
    <c:autoTitleDeleted val="0"/>
    <c:plotArea>
      <c:lineChart>
        <c:grouping val="standard"/>
        <c:varyColors val="0"/>
        <c:ser>
          <c:idx val="0"/>
          <c:order val="0"/>
          <c:tx>
            <c:strRef>
              <c:f>label 0</c:f>
              <c:strCache>
                <c:ptCount val="1"/>
                <c:pt idx="0">
                  <c:v>O(n²)</c:v>
                </c:pt>
              </c:strCache>
            </c:strRef>
          </c:tx>
          <c:spPr>
            <a:solidFill>
              <a:srgbClr val="ff6b5b"/>
            </a:solidFill>
            <a:ln w="31680">
              <a:solidFill>
                <a:srgbClr val="ff6b5b"/>
              </a:solidFill>
              <a:round/>
            </a:ln>
          </c:spPr>
          <c:marker>
            <c:symbol val="circle"/>
            <c:size val="7"/>
            <c:spPr>
              <a:solidFill>
                <a:srgbClr val="ff6b5b"/>
              </a:solidFill>
            </c:spPr>
          </c:marker>
          <c:dLbls>
            <c:txPr>
              <a:bodyPr wrap="square"/>
              <a:lstStyle/>
              <a:p>
                <a:pPr>
                  <a:defRPr b="0" sz="1200" spc="-1" strike="noStrike">
                    <a:solidFill>
                      <a:srgbClr val="000000"/>
                    </a:solidFill>
                    <a:latin typeface="Arial"/>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1K</c:v>
                </c:pt>
                <c:pt idx="1">
                  <c:v>10K</c:v>
                </c:pt>
                <c:pt idx="2">
                  <c:v>100K</c:v>
                </c:pt>
                <c:pt idx="3">
                  <c:v>1M</c:v>
                </c:pt>
              </c:strCache>
            </c:strRef>
          </c:cat>
          <c:val>
            <c:numRef>
              <c:f>0</c:f>
              <c:numCache>
                <c:formatCode>General</c:formatCode>
                <c:ptCount val="4"/>
                <c:pt idx="0">
                  <c:v>1000000</c:v>
                </c:pt>
                <c:pt idx="1">
                  <c:v>100000000</c:v>
                </c:pt>
                <c:pt idx="2">
                  <c:v>10000000000</c:v>
                </c:pt>
                <c:pt idx="3">
                  <c:v>1000000000000</c:v>
                </c:pt>
              </c:numCache>
            </c:numRef>
          </c:val>
          <c:smooth val="0"/>
        </c:ser>
        <c:ser>
          <c:idx val="1"/>
          <c:order val="1"/>
          <c:tx>
            <c:strRef>
              <c:f>label 1</c:f>
              <c:strCache>
                <c:ptCount val="1"/>
                <c:pt idx="0">
                  <c:v>O(n log n)</c:v>
                </c:pt>
              </c:strCache>
            </c:strRef>
          </c:tx>
          <c:spPr>
            <a:solidFill>
              <a:srgbClr val="1fa99b"/>
            </a:solidFill>
            <a:ln w="31680">
              <a:solidFill>
                <a:srgbClr val="1fa99b"/>
              </a:solidFill>
              <a:round/>
            </a:ln>
          </c:spPr>
          <c:marker>
            <c:symbol val="circle"/>
            <c:size val="7"/>
            <c:spPr>
              <a:solidFill>
                <a:srgbClr val="1fa99b"/>
              </a:solidFill>
            </c:spPr>
          </c:marker>
          <c:dLbls>
            <c:txPr>
              <a:bodyPr wrap="square"/>
              <a:lstStyle/>
              <a:p>
                <a:pPr>
                  <a:defRPr b="0" sz="1200" spc="-1" strike="noStrike">
                    <a:solidFill>
                      <a:srgbClr val="000000"/>
                    </a:solidFill>
                    <a:latin typeface="Arial"/>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1K</c:v>
                </c:pt>
                <c:pt idx="1">
                  <c:v>10K</c:v>
                </c:pt>
                <c:pt idx="2">
                  <c:v>100K</c:v>
                </c:pt>
                <c:pt idx="3">
                  <c:v>1M</c:v>
                </c:pt>
              </c:strCache>
            </c:strRef>
          </c:cat>
          <c:val>
            <c:numRef>
              <c:f>1</c:f>
              <c:numCache>
                <c:formatCode>General</c:formatCode>
                <c:ptCount val="4"/>
                <c:pt idx="0">
                  <c:v>9966</c:v>
                </c:pt>
                <c:pt idx="1">
                  <c:v>132877</c:v>
                </c:pt>
                <c:pt idx="2">
                  <c:v>1660964</c:v>
                </c:pt>
                <c:pt idx="3">
                  <c:v>19931569</c:v>
                </c:pt>
              </c:numCache>
            </c:numRef>
          </c:val>
          <c:smooth val="0"/>
        </c:ser>
        <c:hiLowLines>
          <c:spPr>
            <a:ln w="0">
              <a:noFill/>
            </a:ln>
          </c:spPr>
        </c:hiLowLines>
        <c:marker val="1"/>
        <c:axId val="38842442"/>
        <c:axId val="91610914"/>
      </c:lineChart>
      <c:catAx>
        <c:axId val="38842442"/>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100" spc="-1" strike="noStrike">
                <a:solidFill>
                  <a:srgbClr val="5b5878"/>
                </a:solidFill>
                <a:latin typeface="Calibri"/>
              </a:defRPr>
            </a:pPr>
          </a:p>
        </c:txPr>
        <c:crossAx val="91610914"/>
        <c:crosses val="autoZero"/>
        <c:auto val="1"/>
        <c:lblAlgn val="ctr"/>
        <c:lblOffset val="100"/>
        <c:noMultiLvlLbl val="0"/>
      </c:catAx>
      <c:valAx>
        <c:axId val="91610914"/>
        <c:scaling>
          <c:logBase val="10"/>
          <c:orientation val="minMax"/>
        </c:scaling>
        <c:delete val="0"/>
        <c:axPos val="l"/>
        <c:majorGridlines>
          <c:spPr>
            <a:ln w="9360">
              <a:solidFill>
                <a:srgbClr val="d9d6ea"/>
              </a:solidFill>
              <a:round/>
            </a:ln>
          </c:spPr>
        </c:majorGridlines>
        <c:numFmt formatCode="0E+0" sourceLinked="0"/>
        <c:majorTickMark val="out"/>
        <c:minorTickMark val="none"/>
        <c:tickLblPos val="nextTo"/>
        <c:spPr>
          <a:ln w="12600">
            <a:solidFill>
              <a:srgbClr val="888888"/>
            </a:solidFill>
            <a:round/>
          </a:ln>
        </c:spPr>
        <c:txPr>
          <a:bodyPr/>
          <a:lstStyle/>
          <a:p>
            <a:pPr>
              <a:defRPr b="0" sz="1000" spc="-1" strike="noStrike">
                <a:solidFill>
                  <a:srgbClr val="5b5878"/>
                </a:solidFill>
                <a:latin typeface="Calibri"/>
              </a:defRPr>
            </a:pPr>
          </a:p>
        </c:txPr>
        <c:crossAx val="38842442"/>
        <c:crosses val="autoZero"/>
        <c:crossBetween val="between"/>
      </c:valAx>
      <c:spPr>
        <a:noFill/>
        <a:ln w="0">
          <a:noFill/>
        </a:ln>
      </c:spPr>
    </c:plotArea>
    <c:legend>
      <c:legendPos val="b"/>
      <c:overlay val="0"/>
      <c:spPr>
        <a:noFill/>
        <a:ln w="0">
          <a:noFill/>
        </a:ln>
      </c:spPr>
      <c:txPr>
        <a:bodyPr/>
        <a:lstStyle/>
        <a:p>
          <a:pPr>
            <a:defRPr b="0" sz="1100" spc="-1" strike="noStrike">
              <a:solidFill>
                <a:srgbClr val="5b5878"/>
              </a:solidFill>
              <a:latin typeface="Calibri"/>
            </a:defRPr>
          </a:pPr>
        </a:p>
      </c:txPr>
    </c:legend>
    <c:plotVisOnly val="1"/>
    <c:dispBlanksAs val="span"/>
  </c:chart>
  <c:spPr>
    <a:no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IN" sz="1800" spc="-1" strike="noStrike">
                <a:solidFill>
                  <a:schemeClr val="dk1"/>
                </a:solidFill>
                <a:latin typeface="Calibri"/>
              </a:rPr>
              <a:t>Click to move the slide</a:t>
            </a:r>
            <a:endParaRPr b="0" lang="en-IN" sz="1800" spc="-1" strike="noStrike">
              <a:solidFill>
                <a:schemeClr val="dk1"/>
              </a:solidFill>
              <a:latin typeface="Calibri"/>
            </a:endParaRPr>
          </a:p>
        </p:txBody>
      </p:sp>
      <p:sp>
        <p:nvSpPr>
          <p:cNvPr id="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IN" sz="2000" spc="-1" strike="noStrike">
                <a:solidFill>
                  <a:srgbClr val="000000"/>
                </a:solidFill>
                <a:latin typeface="Arial"/>
              </a:rPr>
              <a:t>Click to edit the notes format</a:t>
            </a:r>
            <a:endParaRPr b="0" lang="en-IN" sz="2000" spc="-1" strike="noStrike">
              <a:solidFill>
                <a:srgbClr val="000000"/>
              </a:solidFill>
              <a:latin typeface="Arial"/>
            </a:endParaRPr>
          </a:p>
        </p:txBody>
      </p:sp>
      <p:sp>
        <p:nvSpPr>
          <p:cNvPr id="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N" sz="1400" spc="-1" strike="noStrike">
                <a:solidFill>
                  <a:srgbClr val="000000"/>
                </a:solidFill>
                <a:latin typeface="Times New Roman"/>
              </a:rPr>
              <a:t>&lt;header&gt;</a:t>
            </a:r>
            <a:endParaRPr b="0" lang="en-IN" sz="1400" spc="-1" strike="noStrike">
              <a:solidFill>
                <a:srgbClr val="000000"/>
              </a:solidFill>
              <a:latin typeface="Times New Roman"/>
            </a:endParaRPr>
          </a:p>
        </p:txBody>
      </p:sp>
      <p:sp>
        <p:nvSpPr>
          <p:cNvPr id="8" name="PlaceHolder 4"/>
          <p:cNvSpPr>
            <a:spLocks noGrp="1"/>
          </p:cNvSpPr>
          <p:nvPr>
            <p:ph type="dt" idx="2"/>
          </p:nvPr>
        </p:nvSpPr>
        <p:spPr>
          <a:xfrm>
            <a:off x="4278960" y="0"/>
            <a:ext cx="3280680" cy="534240"/>
          </a:xfrm>
          <a:prstGeom prst="rect">
            <a:avLst/>
          </a:prstGeom>
          <a:noFill/>
          <a:ln w="0">
            <a:noFill/>
          </a:ln>
        </p:spPr>
        <p:txBody>
          <a:bodyPr lIns="0" rIns="0" tIns="0" bIns="0" anchor="t">
            <a:noAutofit/>
          </a:bodyPr>
          <a:lstStyle>
            <a:lvl1pPr indent="0" algn="r">
              <a:buNone/>
              <a:defRPr b="0" lang="en-IN" sz="1400" spc="-1" strike="noStrike">
                <a:solidFill>
                  <a:srgbClr val="000000"/>
                </a:solidFill>
                <a:latin typeface="Times New Roman"/>
              </a:defRPr>
            </a:lvl1pPr>
          </a:lstStyle>
          <a:p>
            <a:pPr indent="0" algn="r">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9" name="PlaceHolder 5"/>
          <p:cNvSpPr>
            <a:spLocks noGrp="1"/>
          </p:cNvSpPr>
          <p:nvPr>
            <p:ph type="ftr" idx="3"/>
          </p:nvPr>
        </p:nvSpPr>
        <p:spPr>
          <a:xfrm>
            <a:off x="0" y="10157400"/>
            <a:ext cx="3280680" cy="534240"/>
          </a:xfrm>
          <a:prstGeom prst="rect">
            <a:avLst/>
          </a:prstGeom>
          <a:noFill/>
          <a:ln w="0">
            <a:noFill/>
          </a:ln>
        </p:spPr>
        <p:txBody>
          <a:bodyPr lIns="0" rIns="0" tIns="0" bIns="0" anchor="b">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0" name="PlaceHolder 6"/>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IN" sz="1400" spc="-1" strike="noStrike">
                <a:solidFill>
                  <a:srgbClr val="000000"/>
                </a:solidFill>
                <a:latin typeface="Times New Roman"/>
              </a:defRPr>
            </a:lvl1pPr>
          </a:lstStyle>
          <a:p>
            <a:pPr indent="0" algn="r">
              <a:buNone/>
            </a:pPr>
            <a:fld id="{25BB3DD0-2C9C-4C33-9C92-3A651BF56704}" type="slidenum">
              <a:rPr b="0" lang="en-IN"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sldImg"/>
          </p:nvPr>
        </p:nvSpPr>
        <p:spPr>
          <a:xfrm>
            <a:off x="685800" y="1143000"/>
            <a:ext cx="5486040" cy="3085920"/>
          </a:xfrm>
          <a:prstGeom prst="rect">
            <a:avLst/>
          </a:prstGeom>
          <a:ln w="0">
            <a:noFill/>
          </a:ln>
        </p:spPr>
      </p:sp>
      <p:sp>
        <p:nvSpPr>
          <p:cNvPr id="24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Welcome. Today's topic is Merge Sort, one of the classic sorting algorithms, built on the divide and conquer strategy. We'll see the idea, walk through an example, look at the merge step up close, and finish with its complexity and trade-offs.</a:t>
            </a:r>
            <a:endParaRPr b="0" lang="en-IN" sz="2000" spc="-1" strike="noStrike">
              <a:solidFill>
                <a:srgbClr val="000000"/>
              </a:solidFill>
              <a:latin typeface="Arial"/>
            </a:endParaRPr>
          </a:p>
        </p:txBody>
      </p:sp>
      <p:sp>
        <p:nvSpPr>
          <p:cNvPr id="242"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98E0CF7-34CC-4736-8B58-6FD7E3440717}" type="slidenum">
              <a:rPr b="0" lang="en-US" sz="1200" spc="-1" strike="noStrike">
                <a:solidFill>
                  <a:schemeClr val="dk1"/>
                </a:solidFill>
                <a:latin typeface="+mn-lt"/>
                <a:ea typeface="+mn-ea"/>
              </a:rPr>
              <a:t>&lt;number&gt;</a:t>
            </a:fld>
            <a:endParaRPr b="0" lang="en-IN"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sldImg"/>
          </p:nvPr>
        </p:nvSpPr>
        <p:spPr>
          <a:xfrm>
            <a:off x="685800" y="1143000"/>
            <a:ext cx="5486040" cy="3085920"/>
          </a:xfrm>
          <a:prstGeom prst="rect">
            <a:avLst/>
          </a:prstGeom>
          <a:ln w="0">
            <a:noFill/>
          </a:ln>
        </p:spPr>
      </p:sp>
      <p:sp>
        <p:nvSpPr>
          <p:cNvPr id="24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task: given n integers, sort them in non-decreasing order. With n up to a million, a quadratic algorithm needs around a trillion steps, which is far too slow. Merge sort needs only about twenty million, because it runs in n log n time.</a:t>
            </a:r>
            <a:endParaRPr b="0" lang="en-IN" sz="2000" spc="-1" strike="noStrike">
              <a:solidFill>
                <a:srgbClr val="000000"/>
              </a:solidFill>
              <a:latin typeface="Arial"/>
            </a:endParaRPr>
          </a:p>
        </p:txBody>
      </p:sp>
      <p:sp>
        <p:nvSpPr>
          <p:cNvPr id="245"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F65F319-4C1E-4BB9-ADF7-A6850C09E876}" type="slidenum">
              <a:rPr b="0" lang="en-US" sz="1200" spc="-1" strike="noStrike">
                <a:solidFill>
                  <a:schemeClr val="dk1"/>
                </a:solidFill>
                <a:latin typeface="+mn-lt"/>
                <a:ea typeface="+mn-ea"/>
              </a:rPr>
              <a:t>&lt;number&gt;</a:t>
            </a:fld>
            <a:endParaRPr b="0" lang="en-IN"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sldImg"/>
          </p:nvPr>
        </p:nvSpPr>
        <p:spPr>
          <a:xfrm>
            <a:off x="685800" y="1143000"/>
            <a:ext cx="5486040" cy="3085920"/>
          </a:xfrm>
          <a:prstGeom prst="rect">
            <a:avLst/>
          </a:prstGeom>
          <a:ln w="0">
            <a:noFill/>
          </a:ln>
        </p:spPr>
      </p:sp>
      <p:sp>
        <p:nvSpPr>
          <p:cNvPr id="24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Divide and conquer has three moves. Divide the problem into smaller copies of itself. Conquer each one recursively, until it's so small it's trivially solved. Then combine the answers. For merge sort: split in half, sort each half, merge them.</a:t>
            </a:r>
            <a:endParaRPr b="0" lang="en-IN" sz="2000" spc="-1" strike="noStrike">
              <a:solidFill>
                <a:srgbClr val="000000"/>
              </a:solidFill>
              <a:latin typeface="Arial"/>
            </a:endParaRPr>
          </a:p>
        </p:txBody>
      </p:sp>
      <p:sp>
        <p:nvSpPr>
          <p:cNvPr id="248"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0057F8B-C73C-4CD0-8E82-6DF983F3F619}" type="slidenum">
              <a:rPr b="0" lang="en-US" sz="1200" spc="-1" strike="noStrike">
                <a:solidFill>
                  <a:schemeClr val="dk1"/>
                </a:solidFill>
                <a:latin typeface="+mn-lt"/>
                <a:ea typeface="+mn-ea"/>
              </a:rPr>
              <a:t>&lt;number&gt;</a:t>
            </a:fld>
            <a:endParaRPr b="0" lang="en-IN"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sldImg"/>
          </p:nvPr>
        </p:nvSpPr>
        <p:spPr>
          <a:xfrm>
            <a:off x="685800" y="1143000"/>
            <a:ext cx="5486040" cy="3085920"/>
          </a:xfrm>
          <a:prstGeom prst="rect">
            <a:avLst/>
          </a:prstGeom>
          <a:ln w="0">
            <a:noFill/>
          </a:ln>
        </p:spPr>
      </p:sp>
      <p:sp>
        <p:nvSpPr>
          <p:cNvPr id="25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algorithm is built from two functions. mergeSort is the splitter: it finds the middle, sorts each half recursively, then calls merge. merge is the combiner: given two sorted halves, it builds one sorted run by repeatedly taking the smaller front element.</a:t>
            </a:r>
            <a:endParaRPr b="0" lang="en-IN" sz="2000" spc="-1" strike="noStrike">
              <a:solidFill>
                <a:srgbClr val="000000"/>
              </a:solidFill>
              <a:latin typeface="Arial"/>
            </a:endParaRPr>
          </a:p>
        </p:txBody>
      </p:sp>
      <p:sp>
        <p:nvSpPr>
          <p:cNvPr id="251"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1A230A2-49C3-42E4-B3D4-A69D25033E2B}" type="slidenum">
              <a:rPr b="0" lang="en-US" sz="1200" spc="-1" strike="noStrike">
                <a:solidFill>
                  <a:schemeClr val="dk1"/>
                </a:solidFill>
                <a:latin typeface="+mn-lt"/>
                <a:ea typeface="+mn-ea"/>
              </a:rPr>
              <a:t>&lt;number&gt;</a:t>
            </a:fld>
            <a:endParaRPr b="0" lang="en-IN"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sldImg"/>
          </p:nvPr>
        </p:nvSpPr>
        <p:spPr>
          <a:xfrm>
            <a:off x="685800" y="1143000"/>
            <a:ext cx="5486040" cy="3085920"/>
          </a:xfrm>
          <a:prstGeom prst="rect">
            <a:avLst/>
          </a:prstGeom>
          <a:ln w="0">
            <a:noFill/>
          </a:ln>
        </p:spPr>
      </p:sp>
      <p:sp>
        <p:nvSpPr>
          <p:cNvPr id="25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Take the array 38, 27, 43, 3, 9, 82, 10. mergeSort cuts it at the middle into a left part of four and a right part of three. Each part is cut again, and again, until every piece holds one element. A single element is sorted by definition, so this is where the real work begins.</a:t>
            </a:r>
            <a:endParaRPr b="0" lang="en-IN" sz="2000" spc="-1" strike="noStrike">
              <a:solidFill>
                <a:srgbClr val="000000"/>
              </a:solidFill>
              <a:latin typeface="Arial"/>
            </a:endParaRPr>
          </a:p>
        </p:txBody>
      </p:sp>
      <p:sp>
        <p:nvSpPr>
          <p:cNvPr id="254"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5C1D51F-218E-4073-A9D3-D64E61E1A994}" type="slidenum">
              <a:rPr b="0" lang="en-US" sz="1200" spc="-1" strike="noStrike">
                <a:solidFill>
                  <a:schemeClr val="dk1"/>
                </a:solidFill>
                <a:latin typeface="+mn-lt"/>
                <a:ea typeface="+mn-ea"/>
              </a:rPr>
              <a:t>&lt;number&gt;</a:t>
            </a:fld>
            <a:endParaRPr b="0" lang="en-IN"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sldImg"/>
          </p:nvPr>
        </p:nvSpPr>
        <p:spPr>
          <a:xfrm>
            <a:off x="685800" y="1143000"/>
            <a:ext cx="5486040" cy="3085920"/>
          </a:xfrm>
          <a:prstGeom prst="rect">
            <a:avLst/>
          </a:prstGeom>
          <a:ln w="0">
            <a:noFill/>
          </a:ln>
        </p:spPr>
      </p:sp>
      <p:sp>
        <p:nvSpPr>
          <p:cNvPr id="25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Now we combine. Neighbouring singles merge into sorted pairs: 27 38, 3 43, 9 82, and 10 waits. Pairs merge into sorted halves: 3 27 38 43 and 9 10 82. One last merge gives the fully sorted array.</a:t>
            </a:r>
            <a:endParaRPr b="0" lang="en-IN" sz="2000" spc="-1" strike="noStrike">
              <a:solidFill>
                <a:srgbClr val="000000"/>
              </a:solidFill>
              <a:latin typeface="Arial"/>
            </a:endParaRPr>
          </a:p>
        </p:txBody>
      </p:sp>
      <p:sp>
        <p:nvSpPr>
          <p:cNvPr id="257"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A1B96C0-7494-4F55-9A18-E2615B880753}" type="slidenum">
              <a:rPr b="0" lang="en-US" sz="1200" spc="-1" strike="noStrike">
                <a:solidFill>
                  <a:schemeClr val="dk1"/>
                </a:solidFill>
                <a:latin typeface="+mn-lt"/>
                <a:ea typeface="+mn-ea"/>
              </a:rPr>
              <a:t>&lt;number&gt;</a:t>
            </a:fld>
            <a:endParaRPr b="0" lang="en-IN"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sldImg"/>
          </p:nvPr>
        </p:nvSpPr>
        <p:spPr>
          <a:xfrm>
            <a:off x="685800" y="1143000"/>
            <a:ext cx="5486040" cy="3085920"/>
          </a:xfrm>
          <a:prstGeom prst="rect">
            <a:avLst/>
          </a:prstGeom>
          <a:ln w="0">
            <a:noFill/>
          </a:ln>
        </p:spPr>
      </p:sp>
      <p:sp>
        <p:nvSpPr>
          <p:cNvPr id="25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Here's the final merge frozen mid-way. Pointer i is at 27 in the left half, pointer j at 82 in the right. We've already output 3, 9 and 10. Compare 27 with 82; 27 is smaller, so it goes next and i moves on. When one side runs out, we copy whatever remains on the other side. And on ties we always take from the left, which keeps equal elements in their original order. That property is called stability.</a:t>
            </a:r>
            <a:endParaRPr b="0" lang="en-IN" sz="2000" spc="-1" strike="noStrike">
              <a:solidFill>
                <a:srgbClr val="000000"/>
              </a:solidFill>
              <a:latin typeface="Arial"/>
            </a:endParaRPr>
          </a:p>
        </p:txBody>
      </p:sp>
      <p:sp>
        <p:nvSpPr>
          <p:cNvPr id="260"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E03DF31-04AC-4849-8EAE-481334CF93C4}" type="slidenum">
              <a:rPr b="0" lang="en-US" sz="1200" spc="-1" strike="noStrike">
                <a:solidFill>
                  <a:schemeClr val="dk1"/>
                </a:solidFill>
                <a:latin typeface="+mn-lt"/>
                <a:ea typeface="+mn-ea"/>
              </a:rPr>
              <a:t>&lt;number&gt;</a:t>
            </a:fld>
            <a:endParaRPr b="0" lang="en-IN"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sldImg"/>
          </p:nvPr>
        </p:nvSpPr>
        <p:spPr>
          <a:xfrm>
            <a:off x="685800" y="1143000"/>
            <a:ext cx="5486040" cy="3085920"/>
          </a:xfrm>
          <a:prstGeom prst="rect">
            <a:avLst/>
          </a:prstGeom>
          <a:ln w="0">
            <a:noFill/>
          </a:ln>
        </p:spPr>
      </p:sp>
      <p:sp>
        <p:nvSpPr>
          <p:cNvPr id="26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Why n log n? Each split halves the array, so there are about log n levels. At every level, the merges together touch all n elements once. n work times log n levels gives n log n — and that holds for best, average and worst case alike. The price is O(n) extra memory for the temporary halves. On the chart, the gap between n squared and n log n becomes enormous by a million elements.</a:t>
            </a:r>
            <a:endParaRPr b="0" lang="en-IN" sz="2000" spc="-1" strike="noStrike">
              <a:solidFill>
                <a:srgbClr val="000000"/>
              </a:solidFill>
              <a:latin typeface="Arial"/>
            </a:endParaRPr>
          </a:p>
        </p:txBody>
      </p:sp>
      <p:sp>
        <p:nvSpPr>
          <p:cNvPr id="263"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A4A9425-89D6-431B-8EE6-CF7FA56ECE95}" type="slidenum">
              <a:rPr b="0" lang="en-US" sz="1200" spc="-1" strike="noStrike">
                <a:solidFill>
                  <a:schemeClr val="dk1"/>
                </a:solidFill>
                <a:latin typeface="+mn-lt"/>
                <a:ea typeface="+mn-ea"/>
              </a:rPr>
              <a:t>&lt;number&gt;</a:t>
            </a:fld>
            <a:endParaRPr b="0" lang="en-IN"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sldImg"/>
          </p:nvPr>
        </p:nvSpPr>
        <p:spPr>
          <a:xfrm>
            <a:off x="685800" y="1143000"/>
            <a:ext cx="5486040" cy="3085920"/>
          </a:xfrm>
          <a:prstGeom prst="rect">
            <a:avLst/>
          </a:prstGeom>
          <a:ln w="0">
            <a:noFill/>
          </a:ln>
        </p:spPr>
      </p:sp>
      <p:sp>
        <p:nvSpPr>
          <p:cNvPr id="26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Strengths: the time bound is guaranteed regardless of input, it's stable, the two halves are independent so they parallelise well, and it suits linked lists and external sorting of files too big for memory. Trade-offs: on arrays it needs O(n) extra space, it isn't in-place, and on small arrays the overhead makes simpler sorts faster.</a:t>
            </a:r>
            <a:endParaRPr b="0" lang="en-IN" sz="2000" spc="-1" strike="noStrike">
              <a:solidFill>
                <a:srgbClr val="000000"/>
              </a:solidFill>
              <a:latin typeface="Arial"/>
            </a:endParaRPr>
          </a:p>
        </p:txBody>
      </p:sp>
      <p:sp>
        <p:nvSpPr>
          <p:cNvPr id="266"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8FDFC7D-8BC7-49CC-8FE6-0B6907131496}" type="slidenum">
              <a:rPr b="0" lang="en-US" sz="1200" spc="-1" strike="noStrike">
                <a:solidFill>
                  <a:schemeClr val="dk1"/>
                </a:solidFill>
                <a:latin typeface="+mn-lt"/>
                <a:ea typeface="+mn-ea"/>
              </a:rPr>
              <a:t>&lt;number&gt;</a:t>
            </a:fld>
            <a:endParaRPr b="0" lang="en-IN"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sldImg"/>
          </p:nvPr>
        </p:nvSpPr>
        <p:spPr>
          <a:xfrm>
            <a:off x="685800" y="1143000"/>
            <a:ext cx="5486040" cy="3085920"/>
          </a:xfrm>
          <a:prstGeom prst="rect">
            <a:avLst/>
          </a:prstGeom>
          <a:ln w="0">
            <a:noFill/>
          </a:ln>
        </p:spPr>
      </p:sp>
      <p:sp>
        <p:nvSpPr>
          <p:cNvPr id="26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To sum up: merge sort splits until pieces are trivially sorted, and merges back up. The merge step is where the work happens. It guarantees n log n time with n extra space, and it's stable. You'll meet it in external sorting, linked lists, parallel sorting, and the stable sort routines of many standard libraries. Thank you. This presentation was created with Claude Opus 5.5.</a:t>
            </a:r>
            <a:endParaRPr b="0" lang="en-IN" sz="2000" spc="-1" strike="noStrike">
              <a:solidFill>
                <a:srgbClr val="000000"/>
              </a:solidFill>
              <a:latin typeface="Arial"/>
            </a:endParaRPr>
          </a:p>
        </p:txBody>
      </p:sp>
      <p:sp>
        <p:nvSpPr>
          <p:cNvPr id="269" name="PlaceHolder 3"/>
          <p:cNvSpPr>
            <a:spLocks noGrp="1"/>
          </p:cNvSpPr>
          <p:nvPr>
            <p:ph type="sldNum" idx="2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C75C9BF-C24D-4823-AE16-E4D45D28CF21}" type="slidenum">
              <a:rPr b="0" lang="en-US" sz="1200" spc="-1" strike="noStrike">
                <a:solidFill>
                  <a:schemeClr val="dk1"/>
                </a:solidFill>
                <a:latin typeface="+mn-lt"/>
                <a:ea typeface="+mn-ea"/>
              </a:rPr>
              <a:t>&lt;number&gt;</a:t>
            </a:fld>
            <a:endParaRPr b="0" lang="en-IN"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ark">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90931906-BC52-4118-8CEC-E43BC4F60420}"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548640" y="411480"/>
            <a:ext cx="8046360" cy="731160"/>
          </a:xfrm>
          <a:prstGeom prst="rect">
            <a:avLst/>
          </a:prstGeom>
          <a:noFill/>
          <a:ln w="0">
            <a:noFill/>
          </a:ln>
        </p:spPr>
        <p:txBody>
          <a:bodyPr lIns="90000" rIns="90000" tIns="45000" bIns="45000" anchor="t">
            <a:noAutofit/>
          </a:bodyPr>
          <a:p>
            <a:pPr indent="0">
              <a:buNone/>
            </a:pPr>
            <a:r>
              <a:rPr b="0" lang="en-IN" sz="3600" spc="-1" strike="noStrike">
                <a:solidFill>
                  <a:schemeClr val="dk1"/>
                </a:solidFill>
                <a:latin typeface="Calibri"/>
              </a:rPr>
              <a:t>Click to edit the title text format</a:t>
            </a:r>
            <a:endParaRPr b="0" lang="en-IN" sz="3600" spc="-1" strike="noStrike">
              <a:solidFill>
                <a:schemeClr val="dk1"/>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fontScale="95303"/>
          </a:bodyPr>
          <a:p>
            <a:pPr marL="432000" indent="-324000">
              <a:spcBef>
                <a:spcPts val="1417"/>
              </a:spcBef>
              <a:buClr>
                <a:srgbClr val="ffffff"/>
              </a:buClr>
              <a:buSzPct val="45000"/>
              <a:buFont typeface="Wingdings" charset="2"/>
              <a:buChar char=""/>
            </a:pPr>
            <a:r>
              <a:rPr b="0" lang="en-IN" sz="3200" spc="-1" strike="noStrike">
                <a:solidFill>
                  <a:schemeClr val="dk1"/>
                </a:solidFill>
                <a:latin typeface="Calibri"/>
              </a:rPr>
              <a:t>Click to edit the outline text format</a:t>
            </a:r>
            <a:endParaRPr b="0" lang="en-IN" sz="3200" spc="-1" strike="noStrike">
              <a:solidFill>
                <a:schemeClr val="dk1"/>
              </a:solidFill>
              <a:latin typeface="Calibri"/>
            </a:endParaRPr>
          </a:p>
          <a:p>
            <a:pPr lvl="1" marL="864000" indent="-324000">
              <a:spcBef>
                <a:spcPts val="1134"/>
              </a:spcBef>
              <a:buClr>
                <a:srgbClr val="ffffff"/>
              </a:buClr>
              <a:buSzPct val="75000"/>
              <a:buFont typeface="Symbol" charset="2"/>
              <a:buChar char=""/>
            </a:pPr>
            <a:r>
              <a:rPr b="0" lang="en-IN" sz="2400" spc="-1" strike="noStrike">
                <a:solidFill>
                  <a:schemeClr val="dk1"/>
                </a:solidFill>
                <a:latin typeface="Calibri"/>
              </a:rPr>
              <a:t>Second Outline Level</a:t>
            </a:r>
            <a:endParaRPr b="0" lang="en-IN" sz="2400" spc="-1" strike="noStrike">
              <a:solidFill>
                <a:schemeClr val="dk1"/>
              </a:solidFill>
              <a:latin typeface="Calibri"/>
            </a:endParaRPr>
          </a:p>
          <a:p>
            <a:pPr lvl="2" marL="1296000" indent="-288000">
              <a:spcBef>
                <a:spcPts val="850"/>
              </a:spcBef>
              <a:buClr>
                <a:srgbClr val="ffffff"/>
              </a:buClr>
              <a:buSzPct val="45000"/>
              <a:buFont typeface="Wingdings" charset="2"/>
              <a:buChar char=""/>
            </a:pPr>
            <a:r>
              <a:rPr b="0" lang="en-IN" sz="2000" spc="-1" strike="noStrike">
                <a:solidFill>
                  <a:schemeClr val="dk1"/>
                </a:solidFill>
                <a:latin typeface="Calibri"/>
              </a:rPr>
              <a:t>Third Outline Level</a:t>
            </a:r>
            <a:endParaRPr b="0" lang="en-IN" sz="2000" spc="-1" strike="noStrike">
              <a:solidFill>
                <a:schemeClr val="dk1"/>
              </a:solidFill>
              <a:latin typeface="Calibri"/>
            </a:endParaRPr>
          </a:p>
          <a:p>
            <a:pPr lvl="3" marL="1728000" indent="-216000">
              <a:spcBef>
                <a:spcPts val="567"/>
              </a:spcBef>
              <a:buClr>
                <a:srgbClr val="ffffff"/>
              </a:buClr>
              <a:buSzPct val="75000"/>
              <a:buFont typeface="Symbol" charset="2"/>
              <a:buChar char=""/>
            </a:pPr>
            <a:r>
              <a:rPr b="0" lang="en-IN" sz="2000" spc="-1" strike="noStrike">
                <a:solidFill>
                  <a:schemeClr val="dk1"/>
                </a:solidFill>
                <a:latin typeface="Calibri"/>
              </a:rPr>
              <a:t>Fourth Outline Level</a:t>
            </a:r>
            <a:endParaRPr b="0" lang="en-IN" sz="2000" spc="-1" strike="noStrike">
              <a:solidFill>
                <a:schemeClr val="dk1"/>
              </a:solidFill>
              <a:latin typeface="Calibri"/>
            </a:endParaRPr>
          </a:p>
          <a:p>
            <a:pPr lvl="4" marL="2160000" indent="-216000">
              <a:spcBef>
                <a:spcPts val="283"/>
              </a:spcBef>
              <a:buClr>
                <a:srgbClr val="ffffff"/>
              </a:buClr>
              <a:buSzPct val="45000"/>
              <a:buFont typeface="Wingdings" charset="2"/>
              <a:buChar char=""/>
            </a:pPr>
            <a:r>
              <a:rPr b="0" lang="en-IN" sz="2000" spc="-1" strike="noStrike">
                <a:solidFill>
                  <a:schemeClr val="dk1"/>
                </a:solidFill>
                <a:latin typeface="Calibri"/>
              </a:rPr>
              <a:t>Fifth Outline Level</a:t>
            </a:r>
            <a:endParaRPr b="0" lang="en-IN" sz="2000" spc="-1" strike="noStrike">
              <a:solidFill>
                <a:schemeClr val="dk1"/>
              </a:solidFill>
              <a:latin typeface="Calibri"/>
            </a:endParaRPr>
          </a:p>
          <a:p>
            <a:pPr lvl="5" marL="2592000" indent="-216000">
              <a:spcBef>
                <a:spcPts val="283"/>
              </a:spcBef>
              <a:buClr>
                <a:srgbClr val="ffffff"/>
              </a:buClr>
              <a:buSzPct val="45000"/>
              <a:buFont typeface="Wingdings" charset="2"/>
              <a:buChar char=""/>
            </a:pPr>
            <a:r>
              <a:rPr b="0" lang="en-IN" sz="2000" spc="-1" strike="noStrike">
                <a:solidFill>
                  <a:schemeClr val="dk1"/>
                </a:solidFill>
                <a:latin typeface="Calibri"/>
              </a:rPr>
              <a:t>Sixth Outline Level</a:t>
            </a:r>
            <a:endParaRPr b="0" lang="en-IN" sz="2000" spc="-1" strike="noStrike">
              <a:solidFill>
                <a:schemeClr val="dk1"/>
              </a:solidFill>
              <a:latin typeface="Calibri"/>
            </a:endParaRPr>
          </a:p>
          <a:p>
            <a:pPr lvl="6" marL="3024000" indent="-216000">
              <a:spcBef>
                <a:spcPts val="283"/>
              </a:spcBef>
              <a:buClr>
                <a:srgbClr val="ffffff"/>
              </a:buClr>
              <a:buSzPct val="45000"/>
              <a:buFont typeface="Wingdings" charset="2"/>
              <a:buChar char=""/>
            </a:pPr>
            <a:r>
              <a:rPr b="0" lang="en-IN" sz="2000" spc="-1" strike="noStrike">
                <a:solidFill>
                  <a:schemeClr val="dk1"/>
                </a:solidFill>
                <a:latin typeface="Calibri"/>
              </a:rPr>
              <a:t>Seventh Outline Level</a:t>
            </a:r>
            <a:endParaRPr b="0" lang="en-IN"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548640" y="320040"/>
            <a:ext cx="8046360" cy="639720"/>
          </a:xfrm>
          <a:prstGeom prst="rect">
            <a:avLst/>
          </a:prstGeom>
          <a:noFill/>
          <a:ln w="0">
            <a:noFill/>
          </a:ln>
        </p:spPr>
        <p:txBody>
          <a:bodyPr lIns="90000" rIns="90000" tIns="45000" bIns="45000" anchor="t">
            <a:noAutofit/>
          </a:bodyPr>
          <a:p>
            <a:pPr indent="0">
              <a:buNone/>
            </a:pPr>
            <a:r>
              <a:rPr b="0" lang="en-IN" sz="3200" spc="-1" strike="noStrike">
                <a:solidFill>
                  <a:schemeClr val="dk1"/>
                </a:solidFill>
                <a:latin typeface="Calibri"/>
              </a:rPr>
              <a:t>Click to edit the title text format</a:t>
            </a:r>
            <a:endParaRPr b="0" lang="en-IN" sz="3200" spc="-1" strike="noStrike">
              <a:solidFill>
                <a:schemeClr val="dk1"/>
              </a:solidFill>
              <a:latin typeface="Calibri"/>
            </a:endParaRPr>
          </a:p>
        </p:txBody>
      </p:sp>
      <p:sp>
        <p:nvSpPr>
          <p:cNvPr id="3" name="PlaceHolder 2"/>
          <p:cNvSpPr>
            <a:spLocks noGrp="1"/>
          </p:cNvSpPr>
          <p:nvPr>
            <p:ph type="sldNum" idx="1"/>
          </p:nvPr>
        </p:nvSpPr>
        <p:spPr>
          <a:xfrm>
            <a:off x="8321040" y="4754880"/>
            <a:ext cx="456840" cy="27396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chemeClr val="dk2"/>
                </a:solidFill>
                <a:latin typeface="Calibri"/>
              </a:defRPr>
            </a:lvl1pPr>
          </a:lstStyle>
          <a:p>
            <a:pPr indent="0" algn="r" defTabSz="914400">
              <a:lnSpc>
                <a:spcPct val="100000"/>
              </a:lnSpc>
              <a:buNone/>
            </a:pPr>
            <a:fld id="{4B8C06AA-F709-4398-9A58-3C9661B04CE3}" type="slidenum">
              <a:rPr b="0" lang="en-US" sz="1000" spc="-1" strike="noStrike">
                <a:solidFill>
                  <a:schemeClr val="dk2"/>
                </a:solidFill>
                <a:latin typeface="Calibri"/>
              </a:rPr>
              <a:t>&lt;number&gt;</a:t>
            </a:fld>
            <a:endParaRPr b="0" lang="en-IN" sz="1000" spc="-1" strike="noStrike">
              <a:solidFill>
                <a:srgbClr val="000000"/>
              </a:solidFill>
              <a:latin typeface="Times New Roman"/>
            </a:endParaRPr>
          </a:p>
        </p:txBody>
      </p:sp>
      <p:sp>
        <p:nvSpPr>
          <p:cNvPr id="4"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fontScale="95303"/>
          </a:bodyPr>
          <a:p>
            <a:pPr marL="432000" indent="-324000">
              <a:spcBef>
                <a:spcPts val="1417"/>
              </a:spcBef>
              <a:buClr>
                <a:srgbClr val="000000"/>
              </a:buClr>
              <a:buSzPct val="45000"/>
              <a:buFont typeface="Wingdings" charset="2"/>
              <a:buChar char=""/>
            </a:pPr>
            <a:r>
              <a:rPr b="0" lang="en-IN" sz="3200" spc="-1" strike="noStrike">
                <a:solidFill>
                  <a:schemeClr val="dk1"/>
                </a:solidFill>
                <a:latin typeface="Calibri"/>
              </a:rPr>
              <a:t>Click to edit the outline text format</a:t>
            </a:r>
            <a:endParaRPr b="0" lang="en-IN"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chemeClr val="dk1"/>
                </a:solidFill>
                <a:latin typeface="Calibri"/>
              </a:rPr>
              <a:t>Second Outline Level</a:t>
            </a:r>
            <a:endParaRPr b="0" lang="en-IN"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chemeClr val="dk1"/>
                </a:solidFill>
                <a:latin typeface="Calibri"/>
              </a:rPr>
              <a:t>Third Outline Level</a:t>
            </a:r>
            <a:endParaRPr b="0" lang="en-IN"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chemeClr val="dk1"/>
                </a:solidFill>
                <a:latin typeface="Calibri"/>
              </a:rPr>
              <a:t>Fourth Outline Level</a:t>
            </a:r>
            <a:endParaRPr b="0" lang="en-IN"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chemeClr val="dk1"/>
                </a:solidFill>
                <a:latin typeface="Calibri"/>
              </a:rPr>
              <a:t>Fifth Outline Level</a:t>
            </a:r>
            <a:endParaRPr b="0" lang="en-IN"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chemeClr val="dk1"/>
                </a:solidFill>
                <a:latin typeface="Calibri"/>
              </a:rPr>
              <a:t>Sixth Outline Level</a:t>
            </a:r>
            <a:endParaRPr b="0" lang="en-IN"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chemeClr val="dk1"/>
                </a:solidFill>
                <a:latin typeface="Calibri"/>
              </a:rPr>
              <a:t>Seventh Outline Level</a:t>
            </a:r>
            <a:endParaRPr b="0" lang="en-IN"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3.xml"/><Relationship Id="rId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3.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slideLayout" Target="../slideLayouts/slideLayout2.xml"/><Relationship Id="rId6"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 name="PlaceHolder 1"/>
          <p:cNvSpPr>
            <a:spLocks noGrp="1"/>
          </p:cNvSpPr>
          <p:nvPr>
            <p:ph type="title"/>
          </p:nvPr>
        </p:nvSpPr>
        <p:spPr>
          <a:xfrm>
            <a:off x="548640" y="411480"/>
            <a:ext cx="8046360" cy="731160"/>
          </a:xfrm>
          <a:prstGeom prst="rect">
            <a:avLst/>
          </a:prstGeom>
          <a:noFill/>
          <a:ln w="0">
            <a:noFill/>
          </a:ln>
        </p:spPr>
        <p:txBody>
          <a:bodyPr lIns="0" rIns="0" tIns="0" bIns="0" anchor="t">
            <a:noAutofit/>
          </a:bodyPr>
          <a:p>
            <a:pPr indent="0" defTabSz="914400">
              <a:lnSpc>
                <a:spcPct val="100000"/>
              </a:lnSpc>
              <a:buNone/>
              <a:tabLst>
                <a:tab algn="l" pos="0"/>
              </a:tabLst>
            </a:pPr>
            <a:r>
              <a:rPr b="1" lang="en-US" sz="3600" spc="-1" strike="noStrike">
                <a:solidFill>
                  <a:schemeClr val="lt1"/>
                </a:solidFill>
                <a:latin typeface="Cambria"/>
              </a:rPr>
              <a:t>M</a:t>
            </a:r>
            <a:r>
              <a:rPr b="1" lang="en-US" sz="3600" spc="-1" strike="noStrike">
                <a:solidFill>
                  <a:schemeClr val="lt1"/>
                </a:solidFill>
                <a:latin typeface="Cambria"/>
              </a:rPr>
              <a:t>e</a:t>
            </a:r>
            <a:r>
              <a:rPr b="1" lang="en-US" sz="3600" spc="-1" strike="noStrike">
                <a:solidFill>
                  <a:schemeClr val="lt1"/>
                </a:solidFill>
                <a:latin typeface="Cambria"/>
              </a:rPr>
              <a:t>r</a:t>
            </a:r>
            <a:r>
              <a:rPr b="1" lang="en-US" sz="3600" spc="-1" strike="noStrike">
                <a:solidFill>
                  <a:schemeClr val="lt1"/>
                </a:solidFill>
                <a:latin typeface="Cambria"/>
              </a:rPr>
              <a:t>g</a:t>
            </a:r>
            <a:r>
              <a:rPr b="1" lang="en-US" sz="3600" spc="-1" strike="noStrike">
                <a:solidFill>
                  <a:schemeClr val="lt1"/>
                </a:solidFill>
                <a:latin typeface="Cambria"/>
              </a:rPr>
              <a:t>e </a:t>
            </a:r>
            <a:r>
              <a:rPr b="1" lang="en-US" sz="3600" spc="-1" strike="noStrike">
                <a:solidFill>
                  <a:schemeClr val="lt1"/>
                </a:solidFill>
                <a:latin typeface="Cambria"/>
              </a:rPr>
              <a:t>S</a:t>
            </a:r>
            <a:r>
              <a:rPr b="1" lang="en-US" sz="3600" spc="-1" strike="noStrike">
                <a:solidFill>
                  <a:schemeClr val="lt1"/>
                </a:solidFill>
                <a:latin typeface="Cambria"/>
              </a:rPr>
              <a:t>o</a:t>
            </a:r>
            <a:r>
              <a:rPr b="1" lang="en-US" sz="3600" spc="-1" strike="noStrike">
                <a:solidFill>
                  <a:schemeClr val="lt1"/>
                </a:solidFill>
                <a:latin typeface="Cambria"/>
              </a:rPr>
              <a:t>r</a:t>
            </a:r>
            <a:r>
              <a:rPr b="1" lang="en-US" sz="3600" spc="-1" strike="noStrike">
                <a:solidFill>
                  <a:schemeClr val="lt1"/>
                </a:solidFill>
                <a:latin typeface="Cambria"/>
              </a:rPr>
              <a:t>t</a:t>
            </a:r>
            <a:endParaRPr b="0" lang="en-IN" sz="3600" spc="-1" strike="noStrike">
              <a:solidFill>
                <a:schemeClr val="dk1"/>
              </a:solidFill>
              <a:latin typeface="Calibri"/>
            </a:endParaRPr>
          </a:p>
        </p:txBody>
      </p:sp>
      <p:sp>
        <p:nvSpPr>
          <p:cNvPr id="12" name="Text 1"/>
          <p:cNvSpPr/>
          <p:nvPr/>
        </p:nvSpPr>
        <p:spPr>
          <a:xfrm>
            <a:off x="548640" y="1188720"/>
            <a:ext cx="8046360" cy="456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2000" spc="-1" strike="noStrike">
                <a:solidFill>
                  <a:schemeClr val="accent6"/>
                </a:solidFill>
                <a:latin typeface="Calibri"/>
              </a:rPr>
              <a:t>Sorting with the Divide and Conquer strategy</a:t>
            </a:r>
            <a:endParaRPr b="0" lang="en-IN" sz="2000" spc="-1" strike="noStrike">
              <a:solidFill>
                <a:srgbClr val="ffffff"/>
              </a:solidFill>
              <a:latin typeface="Arial"/>
            </a:endParaRPr>
          </a:p>
        </p:txBody>
      </p:sp>
      <p:sp>
        <p:nvSpPr>
          <p:cNvPr id="13" name="cell 38"/>
          <p:cNvSpPr/>
          <p:nvPr/>
        </p:nvSpPr>
        <p:spPr>
          <a:xfrm>
            <a:off x="548640" y="2331720"/>
            <a:ext cx="566640" cy="566640"/>
          </a:xfrm>
          <a:prstGeom prst="roundRect">
            <a:avLst>
              <a:gd name="adj" fmla="val 12903"/>
            </a:avLst>
          </a:prstGeom>
          <a:solidFill>
            <a:srgbClr val="2b2850"/>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fffff"/>
                </a:solidFill>
                <a:latin typeface="Calibri"/>
                <a:ea typeface="Calibri"/>
              </a:rPr>
              <a:t>38</a:t>
            </a:r>
            <a:endParaRPr b="0" lang="en-IN" sz="1800" spc="-1" strike="noStrike">
              <a:solidFill>
                <a:srgbClr val="ffffff"/>
              </a:solidFill>
              <a:latin typeface="Arial"/>
            </a:endParaRPr>
          </a:p>
        </p:txBody>
      </p:sp>
      <p:sp>
        <p:nvSpPr>
          <p:cNvPr id="14" name="cell 27"/>
          <p:cNvSpPr/>
          <p:nvPr/>
        </p:nvSpPr>
        <p:spPr>
          <a:xfrm>
            <a:off x="1161360" y="2331720"/>
            <a:ext cx="566640" cy="566640"/>
          </a:xfrm>
          <a:prstGeom prst="roundRect">
            <a:avLst>
              <a:gd name="adj" fmla="val 12903"/>
            </a:avLst>
          </a:prstGeom>
          <a:solidFill>
            <a:srgbClr val="2b2850"/>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fffff"/>
                </a:solidFill>
                <a:latin typeface="Calibri"/>
                <a:ea typeface="Calibri"/>
              </a:rPr>
              <a:t>27</a:t>
            </a:r>
            <a:endParaRPr b="0" lang="en-IN" sz="1800" spc="-1" strike="noStrike">
              <a:solidFill>
                <a:srgbClr val="ffffff"/>
              </a:solidFill>
              <a:latin typeface="Arial"/>
            </a:endParaRPr>
          </a:p>
        </p:txBody>
      </p:sp>
      <p:sp>
        <p:nvSpPr>
          <p:cNvPr id="15" name="cell 43"/>
          <p:cNvSpPr/>
          <p:nvPr/>
        </p:nvSpPr>
        <p:spPr>
          <a:xfrm>
            <a:off x="1774080" y="2331720"/>
            <a:ext cx="566640" cy="566640"/>
          </a:xfrm>
          <a:prstGeom prst="roundRect">
            <a:avLst>
              <a:gd name="adj" fmla="val 12903"/>
            </a:avLst>
          </a:prstGeom>
          <a:solidFill>
            <a:srgbClr val="2b2850"/>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fffff"/>
                </a:solidFill>
                <a:latin typeface="Calibri"/>
                <a:ea typeface="Calibri"/>
              </a:rPr>
              <a:t>43</a:t>
            </a:r>
            <a:endParaRPr b="0" lang="en-IN" sz="1800" spc="-1" strike="noStrike">
              <a:solidFill>
                <a:srgbClr val="ffffff"/>
              </a:solidFill>
              <a:latin typeface="Arial"/>
            </a:endParaRPr>
          </a:p>
        </p:txBody>
      </p:sp>
      <p:sp>
        <p:nvSpPr>
          <p:cNvPr id="16" name="cell 3"/>
          <p:cNvSpPr/>
          <p:nvPr/>
        </p:nvSpPr>
        <p:spPr>
          <a:xfrm>
            <a:off x="2386440" y="2331720"/>
            <a:ext cx="566640" cy="566640"/>
          </a:xfrm>
          <a:prstGeom prst="roundRect">
            <a:avLst>
              <a:gd name="adj" fmla="val 12903"/>
            </a:avLst>
          </a:prstGeom>
          <a:solidFill>
            <a:srgbClr val="2b2850"/>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fffff"/>
                </a:solidFill>
                <a:latin typeface="Calibri"/>
                <a:ea typeface="Calibri"/>
              </a:rPr>
              <a:t>3</a:t>
            </a:r>
            <a:endParaRPr b="0" lang="en-IN" sz="1800" spc="-1" strike="noStrike">
              <a:solidFill>
                <a:srgbClr val="ffffff"/>
              </a:solidFill>
              <a:latin typeface="Arial"/>
            </a:endParaRPr>
          </a:p>
        </p:txBody>
      </p:sp>
      <p:sp>
        <p:nvSpPr>
          <p:cNvPr id="17" name="cell 9"/>
          <p:cNvSpPr/>
          <p:nvPr/>
        </p:nvSpPr>
        <p:spPr>
          <a:xfrm>
            <a:off x="2999160" y="2331720"/>
            <a:ext cx="566640" cy="566640"/>
          </a:xfrm>
          <a:prstGeom prst="roundRect">
            <a:avLst>
              <a:gd name="adj" fmla="val 12903"/>
            </a:avLst>
          </a:prstGeom>
          <a:solidFill>
            <a:srgbClr val="2b2850"/>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fffff"/>
                </a:solidFill>
                <a:latin typeface="Calibri"/>
                <a:ea typeface="Calibri"/>
              </a:rPr>
              <a:t>9</a:t>
            </a:r>
            <a:endParaRPr b="0" lang="en-IN" sz="1800" spc="-1" strike="noStrike">
              <a:solidFill>
                <a:srgbClr val="ffffff"/>
              </a:solidFill>
              <a:latin typeface="Arial"/>
            </a:endParaRPr>
          </a:p>
        </p:txBody>
      </p:sp>
      <p:sp>
        <p:nvSpPr>
          <p:cNvPr id="18" name="cell 82"/>
          <p:cNvSpPr/>
          <p:nvPr/>
        </p:nvSpPr>
        <p:spPr>
          <a:xfrm>
            <a:off x="3611880" y="2331720"/>
            <a:ext cx="566640" cy="566640"/>
          </a:xfrm>
          <a:prstGeom prst="roundRect">
            <a:avLst>
              <a:gd name="adj" fmla="val 12903"/>
            </a:avLst>
          </a:prstGeom>
          <a:solidFill>
            <a:srgbClr val="2b2850"/>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fffff"/>
                </a:solidFill>
                <a:latin typeface="Calibri"/>
                <a:ea typeface="Calibri"/>
              </a:rPr>
              <a:t>82</a:t>
            </a:r>
            <a:endParaRPr b="0" lang="en-IN" sz="1800" spc="-1" strike="noStrike">
              <a:solidFill>
                <a:srgbClr val="ffffff"/>
              </a:solidFill>
              <a:latin typeface="Arial"/>
            </a:endParaRPr>
          </a:p>
        </p:txBody>
      </p:sp>
      <p:sp>
        <p:nvSpPr>
          <p:cNvPr id="19" name="cell 10"/>
          <p:cNvSpPr/>
          <p:nvPr/>
        </p:nvSpPr>
        <p:spPr>
          <a:xfrm>
            <a:off x="4224600" y="2331720"/>
            <a:ext cx="566640" cy="566640"/>
          </a:xfrm>
          <a:prstGeom prst="roundRect">
            <a:avLst>
              <a:gd name="adj" fmla="val 12903"/>
            </a:avLst>
          </a:prstGeom>
          <a:solidFill>
            <a:srgbClr val="2b2850"/>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fffff"/>
                </a:solidFill>
                <a:latin typeface="Calibri"/>
                <a:ea typeface="Calibri"/>
              </a:rPr>
              <a:t>10</a:t>
            </a:r>
            <a:endParaRPr b="0" lang="en-IN" sz="1800" spc="-1" strike="noStrike">
              <a:solidFill>
                <a:srgbClr val="ffffff"/>
              </a:solidFill>
              <a:latin typeface="Arial"/>
            </a:endParaRPr>
          </a:p>
        </p:txBody>
      </p:sp>
      <p:sp>
        <p:nvSpPr>
          <p:cNvPr id="20" name="Text 9"/>
          <p:cNvSpPr/>
          <p:nvPr/>
        </p:nvSpPr>
        <p:spPr>
          <a:xfrm>
            <a:off x="548640" y="2971800"/>
            <a:ext cx="27428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chemeClr val="accent6"/>
                </a:solidFill>
                <a:latin typeface="Calibri"/>
              </a:rPr>
              <a:t>unsorted</a:t>
            </a:r>
            <a:endParaRPr b="0" lang="en-IN" sz="1200" spc="-1" strike="noStrike">
              <a:solidFill>
                <a:srgbClr val="ffffff"/>
              </a:solidFill>
              <a:latin typeface="Arial"/>
            </a:endParaRPr>
          </a:p>
        </p:txBody>
      </p:sp>
      <p:sp>
        <p:nvSpPr>
          <p:cNvPr id="21" name="Shape 10"/>
          <p:cNvSpPr/>
          <p:nvPr/>
        </p:nvSpPr>
        <p:spPr>
          <a:xfrm>
            <a:off x="4709160" y="2450520"/>
            <a:ext cx="502560" cy="328680"/>
          </a:xfrm>
          <a:prstGeom prst="rightArrow">
            <a:avLst>
              <a:gd name="adj1" fmla="val 50000"/>
              <a:gd name="adj2" fmla="val 50000"/>
            </a:avLst>
          </a:prstGeom>
          <a:solidFill>
            <a:schemeClr val="accent1"/>
          </a:solidFill>
          <a:ln w="12700">
            <a:solidFill>
              <a:srgbClr val="ff6b5b"/>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22" name="cell 3"/>
          <p:cNvSpPr/>
          <p:nvPr/>
        </p:nvSpPr>
        <p:spPr>
          <a:xfrm>
            <a:off x="5394960" y="2377440"/>
            <a:ext cx="411120" cy="411120"/>
          </a:xfrm>
          <a:prstGeom prst="roundRect">
            <a:avLst>
              <a:gd name="adj" fmla="val 17778"/>
            </a:avLst>
          </a:prstGeom>
          <a:solidFill>
            <a:srgbClr val="1fa99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3</a:t>
            </a:r>
            <a:endParaRPr b="0" lang="en-IN" sz="1400" spc="-1" strike="noStrike">
              <a:solidFill>
                <a:srgbClr val="ffffff"/>
              </a:solidFill>
              <a:latin typeface="Arial"/>
            </a:endParaRPr>
          </a:p>
        </p:txBody>
      </p:sp>
      <p:sp>
        <p:nvSpPr>
          <p:cNvPr id="23" name="cell 9"/>
          <p:cNvSpPr/>
          <p:nvPr/>
        </p:nvSpPr>
        <p:spPr>
          <a:xfrm>
            <a:off x="5852160" y="2377440"/>
            <a:ext cx="411120" cy="411120"/>
          </a:xfrm>
          <a:prstGeom prst="roundRect">
            <a:avLst>
              <a:gd name="adj" fmla="val 17778"/>
            </a:avLst>
          </a:prstGeom>
          <a:solidFill>
            <a:srgbClr val="1fa99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9</a:t>
            </a:r>
            <a:endParaRPr b="0" lang="en-IN" sz="1400" spc="-1" strike="noStrike">
              <a:solidFill>
                <a:srgbClr val="ffffff"/>
              </a:solidFill>
              <a:latin typeface="Arial"/>
            </a:endParaRPr>
          </a:p>
        </p:txBody>
      </p:sp>
      <p:sp>
        <p:nvSpPr>
          <p:cNvPr id="24" name="cell 10"/>
          <p:cNvSpPr/>
          <p:nvPr/>
        </p:nvSpPr>
        <p:spPr>
          <a:xfrm>
            <a:off x="6309360" y="2377440"/>
            <a:ext cx="411120" cy="411120"/>
          </a:xfrm>
          <a:prstGeom prst="roundRect">
            <a:avLst>
              <a:gd name="adj" fmla="val 17778"/>
            </a:avLst>
          </a:prstGeom>
          <a:solidFill>
            <a:srgbClr val="1fa99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10</a:t>
            </a:r>
            <a:endParaRPr b="0" lang="en-IN" sz="1400" spc="-1" strike="noStrike">
              <a:solidFill>
                <a:srgbClr val="ffffff"/>
              </a:solidFill>
              <a:latin typeface="Arial"/>
            </a:endParaRPr>
          </a:p>
        </p:txBody>
      </p:sp>
      <p:sp>
        <p:nvSpPr>
          <p:cNvPr id="25" name="cell 27"/>
          <p:cNvSpPr/>
          <p:nvPr/>
        </p:nvSpPr>
        <p:spPr>
          <a:xfrm>
            <a:off x="6766560" y="2377440"/>
            <a:ext cx="411120" cy="411120"/>
          </a:xfrm>
          <a:prstGeom prst="roundRect">
            <a:avLst>
              <a:gd name="adj" fmla="val 17778"/>
            </a:avLst>
          </a:prstGeom>
          <a:solidFill>
            <a:srgbClr val="1fa99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27</a:t>
            </a:r>
            <a:endParaRPr b="0" lang="en-IN" sz="1400" spc="-1" strike="noStrike">
              <a:solidFill>
                <a:srgbClr val="ffffff"/>
              </a:solidFill>
              <a:latin typeface="Arial"/>
            </a:endParaRPr>
          </a:p>
        </p:txBody>
      </p:sp>
      <p:sp>
        <p:nvSpPr>
          <p:cNvPr id="26" name="cell 38"/>
          <p:cNvSpPr/>
          <p:nvPr/>
        </p:nvSpPr>
        <p:spPr>
          <a:xfrm>
            <a:off x="7223760" y="2377440"/>
            <a:ext cx="411120" cy="411120"/>
          </a:xfrm>
          <a:prstGeom prst="roundRect">
            <a:avLst>
              <a:gd name="adj" fmla="val 17778"/>
            </a:avLst>
          </a:prstGeom>
          <a:solidFill>
            <a:srgbClr val="1fa99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38</a:t>
            </a:r>
            <a:endParaRPr b="0" lang="en-IN" sz="1400" spc="-1" strike="noStrike">
              <a:solidFill>
                <a:srgbClr val="ffffff"/>
              </a:solidFill>
              <a:latin typeface="Arial"/>
            </a:endParaRPr>
          </a:p>
        </p:txBody>
      </p:sp>
      <p:sp>
        <p:nvSpPr>
          <p:cNvPr id="27" name="cell 43"/>
          <p:cNvSpPr/>
          <p:nvPr/>
        </p:nvSpPr>
        <p:spPr>
          <a:xfrm>
            <a:off x="7680960" y="2377440"/>
            <a:ext cx="411120" cy="411120"/>
          </a:xfrm>
          <a:prstGeom prst="roundRect">
            <a:avLst>
              <a:gd name="adj" fmla="val 17778"/>
            </a:avLst>
          </a:prstGeom>
          <a:solidFill>
            <a:srgbClr val="1fa99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43</a:t>
            </a:r>
            <a:endParaRPr b="0" lang="en-IN" sz="1400" spc="-1" strike="noStrike">
              <a:solidFill>
                <a:srgbClr val="ffffff"/>
              </a:solidFill>
              <a:latin typeface="Arial"/>
            </a:endParaRPr>
          </a:p>
        </p:txBody>
      </p:sp>
      <p:sp>
        <p:nvSpPr>
          <p:cNvPr id="28" name="cell 82"/>
          <p:cNvSpPr/>
          <p:nvPr/>
        </p:nvSpPr>
        <p:spPr>
          <a:xfrm>
            <a:off x="8138160" y="2377440"/>
            <a:ext cx="411120" cy="411120"/>
          </a:xfrm>
          <a:prstGeom prst="roundRect">
            <a:avLst>
              <a:gd name="adj" fmla="val 17778"/>
            </a:avLst>
          </a:prstGeom>
          <a:solidFill>
            <a:srgbClr val="1fa99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82</a:t>
            </a:r>
            <a:endParaRPr b="0" lang="en-IN" sz="1400" spc="-1" strike="noStrike">
              <a:solidFill>
                <a:srgbClr val="ffffff"/>
              </a:solidFill>
              <a:latin typeface="Arial"/>
            </a:endParaRPr>
          </a:p>
        </p:txBody>
      </p:sp>
      <p:sp>
        <p:nvSpPr>
          <p:cNvPr id="29" name="Text 18"/>
          <p:cNvSpPr/>
          <p:nvPr/>
        </p:nvSpPr>
        <p:spPr>
          <a:xfrm>
            <a:off x="5394960" y="2971800"/>
            <a:ext cx="27428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chemeClr val="accent6"/>
                </a:solidFill>
                <a:latin typeface="Calibri"/>
              </a:rPr>
              <a:t>sorted</a:t>
            </a:r>
            <a:endParaRPr b="0" lang="en-IN" sz="1200" spc="-1" strike="noStrike">
              <a:solidFill>
                <a:srgbClr val="ffffff"/>
              </a:solidFill>
              <a:latin typeface="Arial"/>
            </a:endParaRPr>
          </a:p>
        </p:txBody>
      </p:sp>
      <p:sp>
        <p:nvSpPr>
          <p:cNvPr id="30" name="Text 19"/>
          <p:cNvSpPr/>
          <p:nvPr/>
        </p:nvSpPr>
        <p:spPr>
          <a:xfrm>
            <a:off x="548640" y="3749040"/>
            <a:ext cx="36572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chemeClr val="accent6"/>
                </a:solidFill>
                <a:latin typeface="Calibri"/>
              </a:rPr>
              <a:t>Presented by</a:t>
            </a:r>
            <a:endParaRPr b="0" lang="en-IN" sz="1200" spc="-1" strike="noStrike">
              <a:solidFill>
                <a:srgbClr val="ffffff"/>
              </a:solidFill>
              <a:latin typeface="Arial"/>
            </a:endParaRPr>
          </a:p>
        </p:txBody>
      </p:sp>
      <p:sp>
        <p:nvSpPr>
          <p:cNvPr id="31" name="Text 20"/>
          <p:cNvSpPr/>
          <p:nvPr/>
        </p:nvSpPr>
        <p:spPr>
          <a:xfrm>
            <a:off x="548640" y="4005000"/>
            <a:ext cx="5486040" cy="3837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2000" spc="-1" strike="noStrike">
                <a:solidFill>
                  <a:schemeClr val="lt1"/>
                </a:solidFill>
                <a:latin typeface="Calibri"/>
              </a:rPr>
              <a:t>PRADUM MESHRAM</a:t>
            </a:r>
            <a:endParaRPr b="0" lang="en-IN" sz="2000" spc="-1" strike="noStrike">
              <a:solidFill>
                <a:srgbClr val="ffffff"/>
              </a:solidFill>
              <a:latin typeface="Arial"/>
            </a:endParaRPr>
          </a:p>
        </p:txBody>
      </p:sp>
      <p:sp>
        <p:nvSpPr>
          <p:cNvPr id="32" name="Text 21"/>
          <p:cNvSpPr/>
          <p:nvPr/>
        </p:nvSpPr>
        <p:spPr>
          <a:xfrm>
            <a:off x="548640" y="4407480"/>
            <a:ext cx="475452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chemeClr val="accent6"/>
                </a:solidFill>
                <a:latin typeface="Calibri"/>
              </a:rPr>
              <a:t>PRN 25070521189  ·  Section D  ·  Semester 3</a:t>
            </a:r>
            <a:endParaRPr b="0" lang="en-IN" sz="1400" spc="-1" strike="noStrike">
              <a:solidFill>
                <a:srgbClr val="ffffff"/>
              </a:solidFill>
              <a:latin typeface="Arial"/>
            </a:endParaRPr>
          </a:p>
        </p:txBody>
      </p:sp>
      <p:sp>
        <p:nvSpPr>
          <p:cNvPr id="33" name="Text 22"/>
          <p:cNvSpPr/>
          <p:nvPr/>
        </p:nvSpPr>
        <p:spPr>
          <a:xfrm>
            <a:off x="5394960" y="4407480"/>
            <a:ext cx="3200040" cy="3196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i="1" lang="en-US" sz="1200" spc="-1" strike="noStrike">
                <a:solidFill>
                  <a:schemeClr val="accent6"/>
                </a:solidFill>
                <a:latin typeface="Calibri"/>
              </a:rPr>
              <a:t>Created with Claude Opus 5.5</a:t>
            </a:r>
            <a:endParaRPr b="0" lang="en-IN"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548640" y="320040"/>
            <a:ext cx="8046360" cy="639720"/>
          </a:xfrm>
          <a:prstGeom prst="rect">
            <a:avLst/>
          </a:prstGeom>
          <a:noFill/>
          <a:ln w="0">
            <a:noFill/>
          </a:ln>
        </p:spPr>
        <p:txBody>
          <a:bodyPr lIns="0" rIns="0" tIns="0" bIns="0" anchor="ctr">
            <a:noAutofit/>
          </a:bodyPr>
          <a:p>
            <a:pPr indent="0" algn="ctr" defTabSz="914400">
              <a:lnSpc>
                <a:spcPct val="100000"/>
              </a:lnSpc>
              <a:buNone/>
              <a:tabLst>
                <a:tab algn="l" pos="0"/>
              </a:tabLst>
            </a:pPr>
            <a:r>
              <a:rPr b="1" lang="en-US" sz="3200" spc="-1" strike="noStrike">
                <a:solidFill>
                  <a:schemeClr val="dk1"/>
                </a:solidFill>
                <a:latin typeface="Cambria"/>
              </a:rPr>
              <a:t>The problem: sort n integers</a:t>
            </a:r>
            <a:endParaRPr b="0" lang="en-IN" sz="3200" spc="-1" strike="noStrike">
              <a:solidFill>
                <a:schemeClr val="dk1"/>
              </a:solidFill>
              <a:latin typeface="Calibri"/>
            </a:endParaRPr>
          </a:p>
        </p:txBody>
      </p:sp>
      <p:sp>
        <p:nvSpPr>
          <p:cNvPr id="35" name="Text 1"/>
          <p:cNvSpPr/>
          <p:nvPr/>
        </p:nvSpPr>
        <p:spPr>
          <a:xfrm>
            <a:off x="548640" y="1234440"/>
            <a:ext cx="3931560" cy="255996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1001"/>
              </a:spcAft>
              <a:tabLst>
                <a:tab algn="l" pos="0"/>
              </a:tabLst>
            </a:pPr>
            <a:r>
              <a:rPr b="0" lang="en-US" sz="1600" spc="-1" strike="noStrike">
                <a:solidFill>
                  <a:schemeClr val="dk1"/>
                </a:solidFill>
                <a:latin typeface="Calibri"/>
              </a:rPr>
              <a:t>Given an array of n integers, arrange them in non-decreasing order (equal values may sit side by side).</a:t>
            </a:r>
            <a:endParaRPr b="0" lang="en-IN" sz="1600" spc="-1" strike="noStrike">
              <a:solidFill>
                <a:srgbClr val="000000"/>
              </a:solidFill>
              <a:latin typeface="Arial"/>
            </a:endParaRPr>
          </a:p>
          <a:p>
            <a:pPr defTabSz="914400">
              <a:lnSpc>
                <a:spcPct val="100000"/>
              </a:lnSpc>
              <a:spcAft>
                <a:spcPts val="1001"/>
              </a:spcAft>
              <a:tabLst>
                <a:tab algn="l" pos="0"/>
              </a:tabLst>
            </a:pPr>
            <a:r>
              <a:rPr b="0" lang="en-US" sz="1600" spc="-1" strike="noStrike">
                <a:solidFill>
                  <a:schemeClr val="dk1"/>
                </a:solidFill>
                <a:latin typeface="Calibri"/>
              </a:rPr>
              <a:t>Constraints: n can be as large as 1,000,000 and values range from −10⁹ to 10⁹.</a:t>
            </a:r>
            <a:endParaRPr b="0" lang="en-IN" sz="1600" spc="-1" strike="noStrike">
              <a:solidFill>
                <a:srgbClr val="000000"/>
              </a:solidFill>
              <a:latin typeface="Arial"/>
            </a:endParaRPr>
          </a:p>
          <a:p>
            <a:pPr defTabSz="914400">
              <a:lnSpc>
                <a:spcPct val="100000"/>
              </a:lnSpc>
              <a:tabLst>
                <a:tab algn="l" pos="0"/>
              </a:tabLst>
            </a:pPr>
            <a:r>
              <a:rPr b="1" lang="en-US" sz="1600" spc="-1" strike="noStrike">
                <a:solidFill>
                  <a:schemeClr val="dk1"/>
                </a:solidFill>
                <a:latin typeface="Calibri"/>
              </a:rPr>
              <a:t>At that size, the sorting method matters more than the hardware.</a:t>
            </a:r>
            <a:endParaRPr b="0" lang="en-IN" sz="1600" spc="-1" strike="noStrike">
              <a:solidFill>
                <a:srgbClr val="000000"/>
              </a:solidFill>
              <a:latin typeface="Arial"/>
            </a:endParaRPr>
          </a:p>
        </p:txBody>
      </p:sp>
      <p:sp>
        <p:nvSpPr>
          <p:cNvPr id="36" name="Shape 2"/>
          <p:cNvSpPr/>
          <p:nvPr/>
        </p:nvSpPr>
        <p:spPr>
          <a:xfrm>
            <a:off x="4846320" y="1234440"/>
            <a:ext cx="3748680" cy="1416960"/>
          </a:xfrm>
          <a:prstGeom prst="roundRect">
            <a:avLst>
              <a:gd name="adj" fmla="val 7742"/>
            </a:avLst>
          </a:prstGeom>
          <a:solidFill>
            <a:srgbClr val="f3f2f8"/>
          </a:solidFill>
          <a:ln w="12700">
            <a:solidFill>
              <a:srgbClr val="f3f2f8"/>
            </a:solidFill>
            <a:round/>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7" name="Text 3"/>
          <p:cNvSpPr/>
          <p:nvPr/>
        </p:nvSpPr>
        <p:spPr>
          <a:xfrm>
            <a:off x="5074920" y="1371600"/>
            <a:ext cx="3291480" cy="6854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4000" spc="-1" strike="noStrike">
                <a:solidFill>
                  <a:schemeClr val="accent1"/>
                </a:solidFill>
                <a:latin typeface="Cambria"/>
                <a:ea typeface="Cambria"/>
              </a:rPr>
              <a:t>~10¹²</a:t>
            </a:r>
            <a:endParaRPr b="0" lang="en-IN" sz="4000" spc="-1" strike="noStrike">
              <a:solidFill>
                <a:srgbClr val="000000"/>
              </a:solidFill>
              <a:latin typeface="Arial"/>
            </a:endParaRPr>
          </a:p>
        </p:txBody>
      </p:sp>
      <p:sp>
        <p:nvSpPr>
          <p:cNvPr id="38" name="Text 4"/>
          <p:cNvSpPr/>
          <p:nvPr/>
        </p:nvSpPr>
        <p:spPr>
          <a:xfrm>
            <a:off x="5074920" y="2057400"/>
            <a:ext cx="338292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chemeClr val="dk2"/>
                </a:solidFill>
                <a:latin typeface="Calibri"/>
              </a:rPr>
              <a:t>steps for a simple O(n²) sort like bubble sort at n = 10⁶ — minutes to hours</a:t>
            </a:r>
            <a:endParaRPr b="0" lang="en-IN" sz="1300" spc="-1" strike="noStrike">
              <a:solidFill>
                <a:srgbClr val="000000"/>
              </a:solidFill>
              <a:latin typeface="Arial"/>
            </a:endParaRPr>
          </a:p>
        </p:txBody>
      </p:sp>
      <p:sp>
        <p:nvSpPr>
          <p:cNvPr id="39" name="Shape 5"/>
          <p:cNvSpPr/>
          <p:nvPr/>
        </p:nvSpPr>
        <p:spPr>
          <a:xfrm>
            <a:off x="4846320" y="2880360"/>
            <a:ext cx="3748680" cy="1416960"/>
          </a:xfrm>
          <a:prstGeom prst="roundRect">
            <a:avLst>
              <a:gd name="adj" fmla="val 7742"/>
            </a:avLst>
          </a:prstGeom>
          <a:solidFill>
            <a:srgbClr val="f3f2f8"/>
          </a:solidFill>
          <a:ln w="12700">
            <a:solidFill>
              <a:srgbClr val="f3f2f8"/>
            </a:solidFill>
            <a:round/>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0" name="Text 6"/>
          <p:cNvSpPr/>
          <p:nvPr/>
        </p:nvSpPr>
        <p:spPr>
          <a:xfrm>
            <a:off x="5074920" y="3017520"/>
            <a:ext cx="3291480" cy="6854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4000" spc="-1" strike="noStrike">
                <a:solidFill>
                  <a:schemeClr val="accent2"/>
                </a:solidFill>
                <a:latin typeface="Cambria"/>
                <a:ea typeface="Cambria"/>
              </a:rPr>
              <a:t>~2 × 10⁷</a:t>
            </a:r>
            <a:endParaRPr b="0" lang="en-IN" sz="4000" spc="-1" strike="noStrike">
              <a:solidFill>
                <a:srgbClr val="000000"/>
              </a:solidFill>
              <a:latin typeface="Arial"/>
            </a:endParaRPr>
          </a:p>
        </p:txBody>
      </p:sp>
      <p:sp>
        <p:nvSpPr>
          <p:cNvPr id="41" name="Text 7"/>
          <p:cNvSpPr/>
          <p:nvPr/>
        </p:nvSpPr>
        <p:spPr>
          <a:xfrm>
            <a:off x="5074920" y="3703320"/>
            <a:ext cx="338292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chemeClr val="dk2"/>
                </a:solidFill>
                <a:latin typeface="Calibri"/>
              </a:rPr>
              <a:t>steps for Merge Sort, O(n log n) — a fraction of a second</a:t>
            </a:r>
            <a:endParaRPr b="0" lang="en-IN" sz="1300" spc="-1" strike="noStrike">
              <a:solidFill>
                <a:srgbClr val="000000"/>
              </a:solidFill>
              <a:latin typeface="Arial"/>
            </a:endParaRPr>
          </a:p>
        </p:txBody>
      </p:sp>
      <p:sp>
        <p:nvSpPr>
          <p:cNvPr id="42" name="PlaceHolder 2"/>
          <p:cNvSpPr>
            <a:spLocks noGrp="1"/>
          </p:cNvSpPr>
          <p:nvPr>
            <p:ph type="sldNum" idx="5"/>
          </p:nvPr>
        </p:nvSpPr>
        <p:spPr>
          <a:xfrm>
            <a:off x="8321040" y="4754880"/>
            <a:ext cx="456840" cy="27396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chemeClr val="dk2"/>
                </a:solidFill>
                <a:latin typeface="Calibri"/>
              </a:defRPr>
            </a:lvl1pPr>
          </a:lstStyle>
          <a:p>
            <a:pPr indent="0" algn="r" defTabSz="914400">
              <a:lnSpc>
                <a:spcPct val="100000"/>
              </a:lnSpc>
              <a:buNone/>
            </a:pPr>
            <a:fld id="{08D4F9A5-6586-452A-94F0-D0681B64758C}" type="slidenum">
              <a:rPr b="0" lang="en-US" sz="1000" spc="-1" strike="noStrike">
                <a:solidFill>
                  <a:schemeClr val="dk2"/>
                </a:solidFill>
                <a:latin typeface="Calibri"/>
              </a:rPr>
              <a:t>&lt;number&gt;</a:t>
            </a:fld>
            <a:endParaRPr b="0" lang="en-IN"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548640" y="320040"/>
            <a:ext cx="8046360" cy="639720"/>
          </a:xfrm>
          <a:prstGeom prst="rect">
            <a:avLst/>
          </a:prstGeom>
          <a:noFill/>
          <a:ln w="0">
            <a:noFill/>
          </a:ln>
        </p:spPr>
        <p:txBody>
          <a:bodyPr lIns="0" rIns="0" tIns="0" bIns="0" anchor="ctr">
            <a:noAutofit/>
          </a:bodyPr>
          <a:p>
            <a:pPr indent="0" algn="ctr" defTabSz="914400">
              <a:lnSpc>
                <a:spcPct val="100000"/>
              </a:lnSpc>
              <a:buNone/>
              <a:tabLst>
                <a:tab algn="l" pos="0"/>
              </a:tabLst>
            </a:pPr>
            <a:r>
              <a:rPr b="1" lang="en-US" sz="3200" spc="-1" strike="noStrike">
                <a:solidFill>
                  <a:schemeClr val="dk1"/>
                </a:solidFill>
                <a:latin typeface="Cambria"/>
              </a:rPr>
              <a:t>D</a:t>
            </a:r>
            <a:r>
              <a:rPr b="1" lang="en-US" sz="3200" spc="-1" strike="noStrike">
                <a:solidFill>
                  <a:schemeClr val="dk1"/>
                </a:solidFill>
                <a:latin typeface="Cambria"/>
              </a:rPr>
              <a:t>i</a:t>
            </a:r>
            <a:r>
              <a:rPr b="1" lang="en-US" sz="3200" spc="-1" strike="noStrike">
                <a:solidFill>
                  <a:schemeClr val="dk1"/>
                </a:solidFill>
                <a:latin typeface="Cambria"/>
              </a:rPr>
              <a:t>v</a:t>
            </a:r>
            <a:r>
              <a:rPr b="1" lang="en-US" sz="3200" spc="-1" strike="noStrike">
                <a:solidFill>
                  <a:schemeClr val="dk1"/>
                </a:solidFill>
                <a:latin typeface="Cambria"/>
              </a:rPr>
              <a:t>i</a:t>
            </a:r>
            <a:r>
              <a:rPr b="1" lang="en-US" sz="3200" spc="-1" strike="noStrike">
                <a:solidFill>
                  <a:schemeClr val="dk1"/>
                </a:solidFill>
                <a:latin typeface="Cambria"/>
              </a:rPr>
              <a:t>d</a:t>
            </a:r>
            <a:r>
              <a:rPr b="1" lang="en-US" sz="3200" spc="-1" strike="noStrike">
                <a:solidFill>
                  <a:schemeClr val="dk1"/>
                </a:solidFill>
                <a:latin typeface="Cambria"/>
              </a:rPr>
              <a:t>e </a:t>
            </a:r>
            <a:r>
              <a:rPr b="1" lang="en-US" sz="3200" spc="-1" strike="noStrike">
                <a:solidFill>
                  <a:schemeClr val="dk1"/>
                </a:solidFill>
                <a:latin typeface="Cambria"/>
              </a:rPr>
              <a:t>a</a:t>
            </a:r>
            <a:r>
              <a:rPr b="1" lang="en-US" sz="3200" spc="-1" strike="noStrike">
                <a:solidFill>
                  <a:schemeClr val="dk1"/>
                </a:solidFill>
                <a:latin typeface="Cambria"/>
              </a:rPr>
              <a:t>n</a:t>
            </a:r>
            <a:r>
              <a:rPr b="1" lang="en-US" sz="3200" spc="-1" strike="noStrike">
                <a:solidFill>
                  <a:schemeClr val="dk1"/>
                </a:solidFill>
                <a:latin typeface="Cambria"/>
              </a:rPr>
              <a:t>d </a:t>
            </a:r>
            <a:r>
              <a:rPr b="1" lang="en-US" sz="3200" spc="-1" strike="noStrike">
                <a:solidFill>
                  <a:schemeClr val="dk1"/>
                </a:solidFill>
                <a:latin typeface="Cambria"/>
              </a:rPr>
              <a:t>C</a:t>
            </a:r>
            <a:r>
              <a:rPr b="1" lang="en-US" sz="3200" spc="-1" strike="noStrike">
                <a:solidFill>
                  <a:schemeClr val="dk1"/>
                </a:solidFill>
                <a:latin typeface="Cambria"/>
              </a:rPr>
              <a:t>o</a:t>
            </a:r>
            <a:r>
              <a:rPr b="1" lang="en-US" sz="3200" spc="-1" strike="noStrike">
                <a:solidFill>
                  <a:schemeClr val="dk1"/>
                </a:solidFill>
                <a:latin typeface="Cambria"/>
              </a:rPr>
              <a:t>n</a:t>
            </a:r>
            <a:r>
              <a:rPr b="1" lang="en-US" sz="3200" spc="-1" strike="noStrike">
                <a:solidFill>
                  <a:schemeClr val="dk1"/>
                </a:solidFill>
                <a:latin typeface="Cambria"/>
              </a:rPr>
              <a:t>q</a:t>
            </a:r>
            <a:r>
              <a:rPr b="1" lang="en-US" sz="3200" spc="-1" strike="noStrike">
                <a:solidFill>
                  <a:schemeClr val="dk1"/>
                </a:solidFill>
                <a:latin typeface="Cambria"/>
              </a:rPr>
              <a:t>u</a:t>
            </a:r>
            <a:r>
              <a:rPr b="1" lang="en-US" sz="3200" spc="-1" strike="noStrike">
                <a:solidFill>
                  <a:schemeClr val="dk1"/>
                </a:solidFill>
                <a:latin typeface="Cambria"/>
              </a:rPr>
              <a:t>e</a:t>
            </a:r>
            <a:r>
              <a:rPr b="1" lang="en-US" sz="3200" spc="-1" strike="noStrike">
                <a:solidFill>
                  <a:schemeClr val="dk1"/>
                </a:solidFill>
                <a:latin typeface="Cambria"/>
              </a:rPr>
              <a:t>r </a:t>
            </a:r>
            <a:r>
              <a:rPr b="1" lang="en-US" sz="3200" spc="-1" strike="noStrike">
                <a:solidFill>
                  <a:schemeClr val="dk1"/>
                </a:solidFill>
                <a:latin typeface="Cambria"/>
              </a:rPr>
              <a:t>i</a:t>
            </a:r>
            <a:r>
              <a:rPr b="1" lang="en-US" sz="3200" spc="-1" strike="noStrike">
                <a:solidFill>
                  <a:schemeClr val="dk1"/>
                </a:solidFill>
                <a:latin typeface="Cambria"/>
              </a:rPr>
              <a:t>n </a:t>
            </a:r>
            <a:r>
              <a:rPr b="1" lang="en-US" sz="3200" spc="-1" strike="noStrike">
                <a:solidFill>
                  <a:schemeClr val="dk1"/>
                </a:solidFill>
                <a:latin typeface="Cambria"/>
              </a:rPr>
              <a:t>t</a:t>
            </a:r>
            <a:r>
              <a:rPr b="1" lang="en-US" sz="3200" spc="-1" strike="noStrike">
                <a:solidFill>
                  <a:schemeClr val="dk1"/>
                </a:solidFill>
                <a:latin typeface="Cambria"/>
              </a:rPr>
              <a:t>h</a:t>
            </a:r>
            <a:r>
              <a:rPr b="1" lang="en-US" sz="3200" spc="-1" strike="noStrike">
                <a:solidFill>
                  <a:schemeClr val="dk1"/>
                </a:solidFill>
                <a:latin typeface="Cambria"/>
              </a:rPr>
              <a:t>r</a:t>
            </a:r>
            <a:r>
              <a:rPr b="1" lang="en-US" sz="3200" spc="-1" strike="noStrike">
                <a:solidFill>
                  <a:schemeClr val="dk1"/>
                </a:solidFill>
                <a:latin typeface="Cambria"/>
              </a:rPr>
              <a:t>e</a:t>
            </a:r>
            <a:r>
              <a:rPr b="1" lang="en-US" sz="3200" spc="-1" strike="noStrike">
                <a:solidFill>
                  <a:schemeClr val="dk1"/>
                </a:solidFill>
                <a:latin typeface="Cambria"/>
              </a:rPr>
              <a:t>e </a:t>
            </a:r>
            <a:r>
              <a:rPr b="1" lang="en-US" sz="3200" spc="-1" strike="noStrike">
                <a:solidFill>
                  <a:schemeClr val="dk1"/>
                </a:solidFill>
                <a:latin typeface="Cambria"/>
              </a:rPr>
              <a:t>m</a:t>
            </a:r>
            <a:r>
              <a:rPr b="1" lang="en-US" sz="3200" spc="-1" strike="noStrike">
                <a:solidFill>
                  <a:schemeClr val="dk1"/>
                </a:solidFill>
                <a:latin typeface="Cambria"/>
              </a:rPr>
              <a:t>o</a:t>
            </a:r>
            <a:r>
              <a:rPr b="1" lang="en-US" sz="3200" spc="-1" strike="noStrike">
                <a:solidFill>
                  <a:schemeClr val="dk1"/>
                </a:solidFill>
                <a:latin typeface="Cambria"/>
              </a:rPr>
              <a:t>v</a:t>
            </a:r>
            <a:r>
              <a:rPr b="1" lang="en-US" sz="3200" spc="-1" strike="noStrike">
                <a:solidFill>
                  <a:schemeClr val="dk1"/>
                </a:solidFill>
                <a:latin typeface="Cambria"/>
              </a:rPr>
              <a:t>e</a:t>
            </a:r>
            <a:r>
              <a:rPr b="1" lang="en-US" sz="3200" spc="-1" strike="noStrike">
                <a:solidFill>
                  <a:schemeClr val="dk1"/>
                </a:solidFill>
                <a:latin typeface="Cambria"/>
              </a:rPr>
              <a:t>s</a:t>
            </a:r>
            <a:endParaRPr b="0" lang="en-IN" sz="3200" spc="-1" strike="noStrike">
              <a:solidFill>
                <a:schemeClr val="dk1"/>
              </a:solidFill>
              <a:latin typeface="Calibri"/>
            </a:endParaRPr>
          </a:p>
        </p:txBody>
      </p:sp>
      <p:sp>
        <p:nvSpPr>
          <p:cNvPr id="44" name="Shape 1"/>
          <p:cNvSpPr/>
          <p:nvPr/>
        </p:nvSpPr>
        <p:spPr>
          <a:xfrm>
            <a:off x="548640" y="1280160"/>
            <a:ext cx="2468520" cy="3108600"/>
          </a:xfrm>
          <a:prstGeom prst="roundRect">
            <a:avLst>
              <a:gd name="adj" fmla="val 4444"/>
            </a:avLst>
          </a:prstGeom>
          <a:solidFill>
            <a:srgbClr val="f3f2f8"/>
          </a:solidFill>
          <a:ln w="12700">
            <a:solidFill>
              <a:srgbClr val="f3f2f8"/>
            </a:solidFill>
            <a:round/>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5" name="Shape 2"/>
          <p:cNvSpPr/>
          <p:nvPr/>
        </p:nvSpPr>
        <p:spPr>
          <a:xfrm>
            <a:off x="822960" y="1508760"/>
            <a:ext cx="685440" cy="685440"/>
          </a:xfrm>
          <a:prstGeom prst="ellipse">
            <a:avLst/>
          </a:prstGeom>
          <a:solidFill>
            <a:srgbClr val="ff6b5b"/>
          </a:solidFill>
          <a:ln w="12700">
            <a:solidFill>
              <a:srgbClr val="ff6b5b"/>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pic>
        <p:nvPicPr>
          <p:cNvPr id="46" name="Image 0" descr="preencoded.png"/>
          <p:cNvPicPr/>
          <p:nvPr/>
        </p:nvPicPr>
        <p:blipFill>
          <a:blip r:embed="rId1"/>
          <a:stretch/>
        </p:blipFill>
        <p:spPr>
          <a:xfrm>
            <a:off x="1001160" y="1686960"/>
            <a:ext cx="328680" cy="328680"/>
          </a:xfrm>
          <a:prstGeom prst="rect">
            <a:avLst/>
          </a:prstGeom>
          <a:ln w="0">
            <a:noFill/>
          </a:ln>
        </p:spPr>
      </p:pic>
      <p:sp>
        <p:nvSpPr>
          <p:cNvPr id="47" name="Text 3"/>
          <p:cNvSpPr/>
          <p:nvPr/>
        </p:nvSpPr>
        <p:spPr>
          <a:xfrm>
            <a:off x="822960" y="2377440"/>
            <a:ext cx="2011320" cy="411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2000" spc="-1" strike="noStrike">
                <a:solidFill>
                  <a:schemeClr val="dk1"/>
                </a:solidFill>
                <a:latin typeface="Cambria"/>
                <a:ea typeface="Cambria"/>
              </a:rPr>
              <a:t>1. Divide</a:t>
            </a:r>
            <a:endParaRPr b="0" lang="en-IN" sz="2000" spc="-1" strike="noStrike">
              <a:solidFill>
                <a:srgbClr val="000000"/>
              </a:solidFill>
              <a:latin typeface="Arial"/>
            </a:endParaRPr>
          </a:p>
        </p:txBody>
      </p:sp>
      <p:sp>
        <p:nvSpPr>
          <p:cNvPr id="48" name="Text 4"/>
          <p:cNvSpPr/>
          <p:nvPr/>
        </p:nvSpPr>
        <p:spPr>
          <a:xfrm>
            <a:off x="822960" y="2834640"/>
            <a:ext cx="1965600" cy="1462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chemeClr val="dk2"/>
                </a:solidFill>
                <a:latin typeface="Calibri"/>
              </a:rPr>
              <a:t>Split the problem into smaller sub-problems of the same kind — here, cut the array into two halves.</a:t>
            </a:r>
            <a:endParaRPr b="0" lang="en-IN" sz="1400" spc="-1" strike="noStrike">
              <a:solidFill>
                <a:srgbClr val="000000"/>
              </a:solidFill>
              <a:latin typeface="Arial"/>
            </a:endParaRPr>
          </a:p>
        </p:txBody>
      </p:sp>
      <p:sp>
        <p:nvSpPr>
          <p:cNvPr id="49" name="Shape 5"/>
          <p:cNvSpPr/>
          <p:nvPr/>
        </p:nvSpPr>
        <p:spPr>
          <a:xfrm>
            <a:off x="3291840" y="1280160"/>
            <a:ext cx="2468520" cy="3108600"/>
          </a:xfrm>
          <a:prstGeom prst="roundRect">
            <a:avLst>
              <a:gd name="adj" fmla="val 4444"/>
            </a:avLst>
          </a:prstGeom>
          <a:solidFill>
            <a:srgbClr val="f3f2f8"/>
          </a:solidFill>
          <a:ln w="12700">
            <a:solidFill>
              <a:srgbClr val="f3f2f8"/>
            </a:solidFill>
            <a:round/>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50" name="Shape 6"/>
          <p:cNvSpPr/>
          <p:nvPr/>
        </p:nvSpPr>
        <p:spPr>
          <a:xfrm>
            <a:off x="3566160" y="1508760"/>
            <a:ext cx="685440" cy="685440"/>
          </a:xfrm>
          <a:prstGeom prst="ellipse">
            <a:avLst/>
          </a:prstGeom>
          <a:solidFill>
            <a:srgbClr val="6c63ff"/>
          </a:solidFill>
          <a:ln w="12700">
            <a:solidFill>
              <a:srgbClr val="6c63ff"/>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pic>
        <p:nvPicPr>
          <p:cNvPr id="51" name="Image 1" descr="preencoded.png"/>
          <p:cNvPicPr/>
          <p:nvPr/>
        </p:nvPicPr>
        <p:blipFill>
          <a:blip r:embed="rId2"/>
          <a:stretch/>
        </p:blipFill>
        <p:spPr>
          <a:xfrm>
            <a:off x="3744360" y="1686960"/>
            <a:ext cx="328680" cy="328680"/>
          </a:xfrm>
          <a:prstGeom prst="rect">
            <a:avLst/>
          </a:prstGeom>
          <a:ln w="0">
            <a:noFill/>
          </a:ln>
        </p:spPr>
      </p:pic>
      <p:sp>
        <p:nvSpPr>
          <p:cNvPr id="52" name="Text 7"/>
          <p:cNvSpPr/>
          <p:nvPr/>
        </p:nvSpPr>
        <p:spPr>
          <a:xfrm>
            <a:off x="3566160" y="2377440"/>
            <a:ext cx="2011320" cy="411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2000" spc="-1" strike="noStrike">
                <a:solidFill>
                  <a:schemeClr val="dk1"/>
                </a:solidFill>
                <a:latin typeface="Cambria"/>
                <a:ea typeface="Cambria"/>
              </a:rPr>
              <a:t>2. Conquer</a:t>
            </a:r>
            <a:endParaRPr b="0" lang="en-IN" sz="2000" spc="-1" strike="noStrike">
              <a:solidFill>
                <a:srgbClr val="000000"/>
              </a:solidFill>
              <a:latin typeface="Arial"/>
            </a:endParaRPr>
          </a:p>
        </p:txBody>
      </p:sp>
      <p:sp>
        <p:nvSpPr>
          <p:cNvPr id="53" name="Text 8"/>
          <p:cNvSpPr/>
          <p:nvPr/>
        </p:nvSpPr>
        <p:spPr>
          <a:xfrm>
            <a:off x="3566160" y="2834640"/>
            <a:ext cx="1965600" cy="1462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chemeClr val="dk2"/>
                </a:solidFill>
                <a:latin typeface="Calibri"/>
              </a:rPr>
              <a:t>Solve each sub-problem recursively. A piece with one element is already sorted, so recursion stops there.</a:t>
            </a:r>
            <a:endParaRPr b="0" lang="en-IN" sz="1400" spc="-1" strike="noStrike">
              <a:solidFill>
                <a:srgbClr val="000000"/>
              </a:solidFill>
              <a:latin typeface="Arial"/>
            </a:endParaRPr>
          </a:p>
        </p:txBody>
      </p:sp>
      <p:sp>
        <p:nvSpPr>
          <p:cNvPr id="54" name="Shape 9"/>
          <p:cNvSpPr/>
          <p:nvPr/>
        </p:nvSpPr>
        <p:spPr>
          <a:xfrm>
            <a:off x="6035040" y="1280160"/>
            <a:ext cx="2468520" cy="3108600"/>
          </a:xfrm>
          <a:prstGeom prst="roundRect">
            <a:avLst>
              <a:gd name="adj" fmla="val 4444"/>
            </a:avLst>
          </a:prstGeom>
          <a:solidFill>
            <a:srgbClr val="f3f2f8"/>
          </a:solidFill>
          <a:ln w="12700">
            <a:solidFill>
              <a:srgbClr val="f3f2f8"/>
            </a:solidFill>
            <a:round/>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55" name="Shape 10"/>
          <p:cNvSpPr/>
          <p:nvPr/>
        </p:nvSpPr>
        <p:spPr>
          <a:xfrm>
            <a:off x="6309360" y="1508760"/>
            <a:ext cx="685440" cy="685440"/>
          </a:xfrm>
          <a:prstGeom prst="ellipse">
            <a:avLst/>
          </a:prstGeom>
          <a:solidFill>
            <a:srgbClr val="1fa99b"/>
          </a:solidFill>
          <a:ln w="12700">
            <a:solidFill>
              <a:srgbClr val="1fa99b"/>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pic>
        <p:nvPicPr>
          <p:cNvPr id="56" name="Image 2" descr="preencoded.png"/>
          <p:cNvPicPr/>
          <p:nvPr/>
        </p:nvPicPr>
        <p:blipFill>
          <a:blip r:embed="rId3"/>
          <a:stretch/>
        </p:blipFill>
        <p:spPr>
          <a:xfrm>
            <a:off x="6487560" y="1686960"/>
            <a:ext cx="328680" cy="328680"/>
          </a:xfrm>
          <a:prstGeom prst="rect">
            <a:avLst/>
          </a:prstGeom>
          <a:ln w="0">
            <a:noFill/>
          </a:ln>
        </p:spPr>
      </p:pic>
      <p:sp>
        <p:nvSpPr>
          <p:cNvPr id="57" name="Text 11"/>
          <p:cNvSpPr/>
          <p:nvPr/>
        </p:nvSpPr>
        <p:spPr>
          <a:xfrm>
            <a:off x="6309360" y="2377440"/>
            <a:ext cx="2011320" cy="411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2000" spc="-1" strike="noStrike">
                <a:solidFill>
                  <a:schemeClr val="dk1"/>
                </a:solidFill>
                <a:latin typeface="Cambria"/>
                <a:ea typeface="Cambria"/>
              </a:rPr>
              <a:t>3. Combine</a:t>
            </a:r>
            <a:endParaRPr b="0" lang="en-IN" sz="2000" spc="-1" strike="noStrike">
              <a:solidFill>
                <a:srgbClr val="000000"/>
              </a:solidFill>
              <a:latin typeface="Arial"/>
            </a:endParaRPr>
          </a:p>
        </p:txBody>
      </p:sp>
      <p:sp>
        <p:nvSpPr>
          <p:cNvPr id="58" name="Text 12"/>
          <p:cNvSpPr/>
          <p:nvPr/>
        </p:nvSpPr>
        <p:spPr>
          <a:xfrm>
            <a:off x="6309360" y="2834640"/>
            <a:ext cx="1965600" cy="1462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chemeClr val="dk2"/>
                </a:solidFill>
                <a:latin typeface="Calibri"/>
              </a:rPr>
              <a:t>Join the solved pieces into the answer — merge two sorted halves into one sorted array.</a:t>
            </a:r>
            <a:endParaRPr b="0" lang="en-IN" sz="1400" spc="-1" strike="noStrike">
              <a:solidFill>
                <a:srgbClr val="000000"/>
              </a:solidFill>
              <a:latin typeface="Arial"/>
            </a:endParaRPr>
          </a:p>
        </p:txBody>
      </p:sp>
      <p:sp>
        <p:nvSpPr>
          <p:cNvPr id="59" name="PlaceHolder 2"/>
          <p:cNvSpPr>
            <a:spLocks noGrp="1"/>
          </p:cNvSpPr>
          <p:nvPr>
            <p:ph type="sldNum" idx="6"/>
          </p:nvPr>
        </p:nvSpPr>
        <p:spPr>
          <a:xfrm>
            <a:off x="8321040" y="4754880"/>
            <a:ext cx="456840" cy="27396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chemeClr val="dk2"/>
                </a:solidFill>
                <a:latin typeface="Calibri"/>
              </a:defRPr>
            </a:lvl1pPr>
          </a:lstStyle>
          <a:p>
            <a:pPr indent="0" algn="r" defTabSz="914400">
              <a:lnSpc>
                <a:spcPct val="100000"/>
              </a:lnSpc>
              <a:buNone/>
            </a:pPr>
            <a:fld id="{C29B3A88-E931-445F-AD93-4135F2CDB881}" type="slidenum">
              <a:rPr b="0" lang="en-US" sz="1000" spc="-1" strike="noStrike">
                <a:solidFill>
                  <a:schemeClr val="dk2"/>
                </a:solidFill>
                <a:latin typeface="Calibri"/>
              </a:rPr>
              <a:t>&lt;number&gt;</a:t>
            </a:fld>
            <a:endParaRPr b="0" lang="en-IN"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548640" y="320040"/>
            <a:ext cx="8046360" cy="639720"/>
          </a:xfrm>
          <a:prstGeom prst="rect">
            <a:avLst/>
          </a:prstGeom>
          <a:noFill/>
          <a:ln w="0">
            <a:noFill/>
          </a:ln>
        </p:spPr>
        <p:txBody>
          <a:bodyPr lIns="0" rIns="0" tIns="0" bIns="0" anchor="ctr">
            <a:noAutofit/>
          </a:bodyPr>
          <a:p>
            <a:pPr indent="0" algn="ctr" defTabSz="914400">
              <a:lnSpc>
                <a:spcPct val="100000"/>
              </a:lnSpc>
              <a:buNone/>
              <a:tabLst>
                <a:tab algn="l" pos="0"/>
              </a:tabLst>
            </a:pPr>
            <a:r>
              <a:rPr b="1" lang="en-US" sz="3200" spc="-1" strike="noStrike">
                <a:solidFill>
                  <a:schemeClr val="dk1"/>
                </a:solidFill>
                <a:latin typeface="Cambria"/>
              </a:rPr>
              <a:t>Two building blocks</a:t>
            </a:r>
            <a:endParaRPr b="0" lang="en-IN" sz="3200" spc="-1" strike="noStrike">
              <a:solidFill>
                <a:schemeClr val="dk1"/>
              </a:solidFill>
              <a:latin typeface="Calibri"/>
            </a:endParaRPr>
          </a:p>
        </p:txBody>
      </p:sp>
      <p:sp>
        <p:nvSpPr>
          <p:cNvPr id="61" name="Shape 1"/>
          <p:cNvSpPr/>
          <p:nvPr/>
        </p:nvSpPr>
        <p:spPr>
          <a:xfrm>
            <a:off x="548640" y="1234440"/>
            <a:ext cx="3931560" cy="2331360"/>
          </a:xfrm>
          <a:prstGeom prst="roundRect">
            <a:avLst>
              <a:gd name="adj" fmla="val 4706"/>
            </a:avLst>
          </a:prstGeom>
          <a:solidFill>
            <a:srgbClr val="f3f2f8"/>
          </a:solidFill>
          <a:ln w="12700">
            <a:solidFill>
              <a:srgbClr val="f3f2f8"/>
            </a:solidFill>
            <a:round/>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62" name="Text 2"/>
          <p:cNvSpPr/>
          <p:nvPr/>
        </p:nvSpPr>
        <p:spPr>
          <a:xfrm>
            <a:off x="822960" y="1463040"/>
            <a:ext cx="1737000" cy="411120"/>
          </a:xfrm>
          <a:prstGeom prst="roundRect">
            <a:avLst>
              <a:gd name="adj" fmla="val 17778"/>
            </a:avLst>
          </a:prstGeom>
          <a:solidFill>
            <a:srgbClr val="ff6b5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chemeClr val="lt1"/>
                </a:solidFill>
                <a:latin typeface="Calibri"/>
              </a:rPr>
              <a:t>mergeSort( )</a:t>
            </a:r>
            <a:endParaRPr b="0" lang="en-IN" sz="1500" spc="-1" strike="noStrike">
              <a:solidFill>
                <a:srgbClr val="ffffff"/>
              </a:solidFill>
              <a:latin typeface="Arial"/>
            </a:endParaRPr>
          </a:p>
        </p:txBody>
      </p:sp>
      <p:sp>
        <p:nvSpPr>
          <p:cNvPr id="63" name="Text 3"/>
          <p:cNvSpPr/>
          <p:nvPr/>
        </p:nvSpPr>
        <p:spPr>
          <a:xfrm>
            <a:off x="2697480" y="1463040"/>
            <a:ext cx="16455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600" spc="-1" strike="noStrike">
                <a:solidFill>
                  <a:schemeClr val="dk2"/>
                </a:solidFill>
                <a:latin typeface="Calibri"/>
              </a:rPr>
              <a:t>The splitter</a:t>
            </a:r>
            <a:endParaRPr b="0" lang="en-IN" sz="1600" spc="-1" strike="noStrike">
              <a:solidFill>
                <a:srgbClr val="000000"/>
              </a:solidFill>
              <a:latin typeface="Arial"/>
            </a:endParaRPr>
          </a:p>
        </p:txBody>
      </p:sp>
      <p:sp>
        <p:nvSpPr>
          <p:cNvPr id="64" name="Text 4"/>
          <p:cNvSpPr/>
          <p:nvPr/>
        </p:nvSpPr>
        <p:spPr>
          <a:xfrm>
            <a:off x="822960" y="2103120"/>
            <a:ext cx="3382920" cy="1371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500" spc="-1" strike="noStrike">
                <a:solidFill>
                  <a:schemeClr val="dk1"/>
                </a:solidFill>
                <a:latin typeface="Calibri"/>
              </a:rPr>
              <a:t>Finds the middle, recursively sorts the left half and the right half, then hands both to merge. Stops when a piece has a single element.</a:t>
            </a:r>
            <a:endParaRPr b="0" lang="en-IN" sz="1500" spc="-1" strike="noStrike">
              <a:solidFill>
                <a:srgbClr val="000000"/>
              </a:solidFill>
              <a:latin typeface="Arial"/>
            </a:endParaRPr>
          </a:p>
        </p:txBody>
      </p:sp>
      <p:sp>
        <p:nvSpPr>
          <p:cNvPr id="65" name="Shape 5"/>
          <p:cNvSpPr/>
          <p:nvPr/>
        </p:nvSpPr>
        <p:spPr>
          <a:xfrm>
            <a:off x="4663440" y="1234440"/>
            <a:ext cx="3931560" cy="2331360"/>
          </a:xfrm>
          <a:prstGeom prst="roundRect">
            <a:avLst>
              <a:gd name="adj" fmla="val 4706"/>
            </a:avLst>
          </a:prstGeom>
          <a:solidFill>
            <a:srgbClr val="f3f2f8"/>
          </a:solidFill>
          <a:ln w="12700">
            <a:solidFill>
              <a:srgbClr val="f3f2f8"/>
            </a:solidFill>
            <a:round/>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66" name="Text 6"/>
          <p:cNvSpPr/>
          <p:nvPr/>
        </p:nvSpPr>
        <p:spPr>
          <a:xfrm>
            <a:off x="4937760" y="1463040"/>
            <a:ext cx="1737000" cy="411120"/>
          </a:xfrm>
          <a:prstGeom prst="roundRect">
            <a:avLst>
              <a:gd name="adj" fmla="val 17778"/>
            </a:avLst>
          </a:prstGeom>
          <a:solidFill>
            <a:srgbClr val="1fa99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chemeClr val="lt1"/>
                </a:solidFill>
                <a:latin typeface="Calibri"/>
              </a:rPr>
              <a:t>merge( )</a:t>
            </a:r>
            <a:endParaRPr b="0" lang="en-IN" sz="1500" spc="-1" strike="noStrike">
              <a:solidFill>
                <a:srgbClr val="ffffff"/>
              </a:solidFill>
              <a:latin typeface="Arial"/>
            </a:endParaRPr>
          </a:p>
        </p:txBody>
      </p:sp>
      <p:sp>
        <p:nvSpPr>
          <p:cNvPr id="67" name="Text 7"/>
          <p:cNvSpPr/>
          <p:nvPr/>
        </p:nvSpPr>
        <p:spPr>
          <a:xfrm>
            <a:off x="6812280" y="1463040"/>
            <a:ext cx="16455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600" spc="-1" strike="noStrike">
                <a:solidFill>
                  <a:schemeClr val="dk2"/>
                </a:solidFill>
                <a:latin typeface="Calibri"/>
              </a:rPr>
              <a:t>The combiner</a:t>
            </a:r>
            <a:endParaRPr b="0" lang="en-IN" sz="1600" spc="-1" strike="noStrike">
              <a:solidFill>
                <a:srgbClr val="000000"/>
              </a:solidFill>
              <a:latin typeface="Arial"/>
            </a:endParaRPr>
          </a:p>
        </p:txBody>
      </p:sp>
      <p:sp>
        <p:nvSpPr>
          <p:cNvPr id="68" name="Text 8"/>
          <p:cNvSpPr/>
          <p:nvPr/>
        </p:nvSpPr>
        <p:spPr>
          <a:xfrm>
            <a:off x="4937760" y="2103120"/>
            <a:ext cx="3382920" cy="1371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500" spc="-1" strike="noStrike">
                <a:solidFill>
                  <a:schemeClr val="dk1"/>
                </a:solidFill>
                <a:latin typeface="Calibri"/>
              </a:rPr>
              <a:t>Takes two halves that are each already sorted and weaves them into one sorted run by repeatedly picking the smaller front element.</a:t>
            </a:r>
            <a:endParaRPr b="0" lang="en-IN" sz="1500" spc="-1" strike="noStrike">
              <a:solidFill>
                <a:srgbClr val="000000"/>
              </a:solidFill>
              <a:latin typeface="Arial"/>
            </a:endParaRPr>
          </a:p>
        </p:txBody>
      </p:sp>
      <p:sp>
        <p:nvSpPr>
          <p:cNvPr id="69" name="Text 9"/>
          <p:cNvSpPr/>
          <p:nvPr/>
        </p:nvSpPr>
        <p:spPr>
          <a:xfrm>
            <a:off x="548640" y="3886200"/>
            <a:ext cx="1691280" cy="502560"/>
          </a:xfrm>
          <a:prstGeom prst="roundRect">
            <a:avLst>
              <a:gd name="adj" fmla="val 14545"/>
            </a:avLst>
          </a:prstGeom>
          <a:solidFill>
            <a:srgbClr val="1c1a33"/>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chemeClr val="lt1"/>
                </a:solidFill>
                <a:latin typeface="Calibri"/>
              </a:rPr>
              <a:t>Split in half</a:t>
            </a:r>
            <a:endParaRPr b="0" lang="en-IN" sz="1400" spc="-1" strike="noStrike">
              <a:solidFill>
                <a:srgbClr val="ffffff"/>
              </a:solidFill>
              <a:latin typeface="Arial"/>
            </a:endParaRPr>
          </a:p>
        </p:txBody>
      </p:sp>
      <p:sp>
        <p:nvSpPr>
          <p:cNvPr id="70" name="Shape 10"/>
          <p:cNvSpPr/>
          <p:nvPr/>
        </p:nvSpPr>
        <p:spPr>
          <a:xfrm>
            <a:off x="2313360" y="4014360"/>
            <a:ext cx="273960" cy="246600"/>
          </a:xfrm>
          <a:prstGeom prst="rightArrow">
            <a:avLst>
              <a:gd name="adj1" fmla="val 50000"/>
              <a:gd name="adj2" fmla="val 50000"/>
            </a:avLst>
          </a:prstGeom>
          <a:solidFill>
            <a:schemeClr val="accent6"/>
          </a:solidFill>
          <a:ln w="12700">
            <a:solidFill>
              <a:srgbClr val="d9d6ea"/>
            </a:solidFill>
            <a:round/>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71" name="Text 11"/>
          <p:cNvSpPr/>
          <p:nvPr/>
        </p:nvSpPr>
        <p:spPr>
          <a:xfrm>
            <a:off x="2651760" y="3886200"/>
            <a:ext cx="1691280" cy="502560"/>
          </a:xfrm>
          <a:prstGeom prst="roundRect">
            <a:avLst>
              <a:gd name="adj" fmla="val 14545"/>
            </a:avLst>
          </a:prstGeom>
          <a:solidFill>
            <a:srgbClr val="1c1a33"/>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chemeClr val="lt1"/>
                </a:solidFill>
                <a:latin typeface="Calibri"/>
              </a:rPr>
              <a:t>Sort left</a:t>
            </a:r>
            <a:endParaRPr b="0" lang="en-IN" sz="1400" spc="-1" strike="noStrike">
              <a:solidFill>
                <a:srgbClr val="ffffff"/>
              </a:solidFill>
              <a:latin typeface="Arial"/>
            </a:endParaRPr>
          </a:p>
        </p:txBody>
      </p:sp>
      <p:sp>
        <p:nvSpPr>
          <p:cNvPr id="72" name="Shape 12"/>
          <p:cNvSpPr/>
          <p:nvPr/>
        </p:nvSpPr>
        <p:spPr>
          <a:xfrm>
            <a:off x="4416480" y="4014360"/>
            <a:ext cx="273960" cy="246600"/>
          </a:xfrm>
          <a:prstGeom prst="rightArrow">
            <a:avLst>
              <a:gd name="adj1" fmla="val 50000"/>
              <a:gd name="adj2" fmla="val 50000"/>
            </a:avLst>
          </a:prstGeom>
          <a:solidFill>
            <a:schemeClr val="accent6"/>
          </a:solidFill>
          <a:ln w="12700">
            <a:solidFill>
              <a:srgbClr val="d9d6ea"/>
            </a:solidFill>
            <a:round/>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73" name="Text 13"/>
          <p:cNvSpPr/>
          <p:nvPr/>
        </p:nvSpPr>
        <p:spPr>
          <a:xfrm>
            <a:off x="4754880" y="3886200"/>
            <a:ext cx="1691280" cy="502560"/>
          </a:xfrm>
          <a:prstGeom prst="roundRect">
            <a:avLst>
              <a:gd name="adj" fmla="val 14545"/>
            </a:avLst>
          </a:prstGeom>
          <a:solidFill>
            <a:srgbClr val="1c1a33"/>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chemeClr val="lt1"/>
                </a:solidFill>
                <a:latin typeface="Calibri"/>
              </a:rPr>
              <a:t>Sort right</a:t>
            </a:r>
            <a:endParaRPr b="0" lang="en-IN" sz="1400" spc="-1" strike="noStrike">
              <a:solidFill>
                <a:srgbClr val="ffffff"/>
              </a:solidFill>
              <a:latin typeface="Arial"/>
            </a:endParaRPr>
          </a:p>
        </p:txBody>
      </p:sp>
      <p:sp>
        <p:nvSpPr>
          <p:cNvPr id="74" name="Shape 14"/>
          <p:cNvSpPr/>
          <p:nvPr/>
        </p:nvSpPr>
        <p:spPr>
          <a:xfrm>
            <a:off x="6519600" y="4014360"/>
            <a:ext cx="273960" cy="246600"/>
          </a:xfrm>
          <a:prstGeom prst="rightArrow">
            <a:avLst>
              <a:gd name="adj1" fmla="val 50000"/>
              <a:gd name="adj2" fmla="val 50000"/>
            </a:avLst>
          </a:prstGeom>
          <a:solidFill>
            <a:schemeClr val="accent6"/>
          </a:solidFill>
          <a:ln w="12700">
            <a:solidFill>
              <a:srgbClr val="d9d6ea"/>
            </a:solidFill>
            <a:round/>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75" name="Text 15"/>
          <p:cNvSpPr/>
          <p:nvPr/>
        </p:nvSpPr>
        <p:spPr>
          <a:xfrm>
            <a:off x="6858000" y="3886200"/>
            <a:ext cx="1691280" cy="502560"/>
          </a:xfrm>
          <a:prstGeom prst="roundRect">
            <a:avLst>
              <a:gd name="adj" fmla="val 14545"/>
            </a:avLst>
          </a:prstGeom>
          <a:solidFill>
            <a:srgbClr val="1fa99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chemeClr val="lt1"/>
                </a:solidFill>
                <a:latin typeface="Calibri"/>
              </a:rPr>
              <a:t>Merge</a:t>
            </a:r>
            <a:endParaRPr b="0" lang="en-IN" sz="1400" spc="-1" strike="noStrike">
              <a:solidFill>
                <a:srgbClr val="ffffff"/>
              </a:solidFill>
              <a:latin typeface="Arial"/>
            </a:endParaRPr>
          </a:p>
        </p:txBody>
      </p:sp>
      <p:sp>
        <p:nvSpPr>
          <p:cNvPr id="76" name="PlaceHolder 2"/>
          <p:cNvSpPr>
            <a:spLocks noGrp="1"/>
          </p:cNvSpPr>
          <p:nvPr>
            <p:ph type="sldNum" idx="7"/>
          </p:nvPr>
        </p:nvSpPr>
        <p:spPr>
          <a:xfrm>
            <a:off x="8321040" y="4754880"/>
            <a:ext cx="456840" cy="27396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chemeClr val="dk2"/>
                </a:solidFill>
                <a:latin typeface="Calibri"/>
              </a:defRPr>
            </a:lvl1pPr>
          </a:lstStyle>
          <a:p>
            <a:pPr indent="0" algn="r" defTabSz="914400">
              <a:lnSpc>
                <a:spcPct val="100000"/>
              </a:lnSpc>
              <a:buNone/>
            </a:pPr>
            <a:fld id="{8F0A59CA-2D60-4531-8AC7-8C1860652DA2}" type="slidenum">
              <a:rPr b="0" lang="en-US" sz="1000" spc="-1" strike="noStrike">
                <a:solidFill>
                  <a:schemeClr val="dk2"/>
                </a:solidFill>
                <a:latin typeface="Calibri"/>
              </a:rPr>
              <a:t>&lt;number&gt;</a:t>
            </a:fld>
            <a:endParaRPr b="0" lang="en-IN"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548640" y="320040"/>
            <a:ext cx="8046360" cy="639720"/>
          </a:xfrm>
          <a:prstGeom prst="rect">
            <a:avLst/>
          </a:prstGeom>
          <a:noFill/>
          <a:ln w="0">
            <a:noFill/>
          </a:ln>
        </p:spPr>
        <p:txBody>
          <a:bodyPr lIns="0" rIns="0" tIns="0" bIns="0" anchor="ctr">
            <a:noAutofit/>
          </a:bodyPr>
          <a:p>
            <a:pPr indent="0" algn="ctr" defTabSz="914400">
              <a:lnSpc>
                <a:spcPct val="100000"/>
              </a:lnSpc>
              <a:buNone/>
              <a:tabLst>
                <a:tab algn="l" pos="0"/>
              </a:tabLst>
            </a:pPr>
            <a:r>
              <a:rPr b="1" lang="en-US" sz="3200" spc="-1" strike="noStrike">
                <a:solidFill>
                  <a:schemeClr val="dk1"/>
                </a:solidFill>
                <a:latin typeface="Cambria"/>
              </a:rPr>
              <a:t>Step 1 — keep splitting until size 1</a:t>
            </a:r>
            <a:endParaRPr b="0" lang="en-IN" sz="3200" spc="-1" strike="noStrike">
              <a:solidFill>
                <a:schemeClr val="dk1"/>
              </a:solidFill>
              <a:latin typeface="Calibri"/>
            </a:endParaRPr>
          </a:p>
        </p:txBody>
      </p:sp>
      <p:sp>
        <p:nvSpPr>
          <p:cNvPr id="78" name="cell 38"/>
          <p:cNvSpPr/>
          <p:nvPr/>
        </p:nvSpPr>
        <p:spPr>
          <a:xfrm>
            <a:off x="3602880" y="1188720"/>
            <a:ext cx="420120" cy="420120"/>
          </a:xfrm>
          <a:prstGeom prst="roundRect">
            <a:avLst>
              <a:gd name="adj" fmla="val 17391"/>
            </a:avLst>
          </a:prstGeom>
          <a:solidFill>
            <a:srgbClr val="1c1a33"/>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38</a:t>
            </a:r>
            <a:endParaRPr b="0" lang="en-IN" sz="1400" spc="-1" strike="noStrike">
              <a:solidFill>
                <a:srgbClr val="ffffff"/>
              </a:solidFill>
              <a:latin typeface="Arial"/>
            </a:endParaRPr>
          </a:p>
        </p:txBody>
      </p:sp>
      <p:sp>
        <p:nvSpPr>
          <p:cNvPr id="79" name="cell 27"/>
          <p:cNvSpPr/>
          <p:nvPr/>
        </p:nvSpPr>
        <p:spPr>
          <a:xfrm>
            <a:off x="4069080" y="1188720"/>
            <a:ext cx="420120" cy="420120"/>
          </a:xfrm>
          <a:prstGeom prst="roundRect">
            <a:avLst>
              <a:gd name="adj" fmla="val 17391"/>
            </a:avLst>
          </a:prstGeom>
          <a:solidFill>
            <a:srgbClr val="1c1a33"/>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27</a:t>
            </a:r>
            <a:endParaRPr b="0" lang="en-IN" sz="1400" spc="-1" strike="noStrike">
              <a:solidFill>
                <a:srgbClr val="ffffff"/>
              </a:solidFill>
              <a:latin typeface="Arial"/>
            </a:endParaRPr>
          </a:p>
        </p:txBody>
      </p:sp>
      <p:sp>
        <p:nvSpPr>
          <p:cNvPr id="80" name="cell 43"/>
          <p:cNvSpPr/>
          <p:nvPr/>
        </p:nvSpPr>
        <p:spPr>
          <a:xfrm>
            <a:off x="4535280" y="1188720"/>
            <a:ext cx="420120" cy="420120"/>
          </a:xfrm>
          <a:prstGeom prst="roundRect">
            <a:avLst>
              <a:gd name="adj" fmla="val 17391"/>
            </a:avLst>
          </a:prstGeom>
          <a:solidFill>
            <a:srgbClr val="1c1a33"/>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43</a:t>
            </a:r>
            <a:endParaRPr b="0" lang="en-IN" sz="1400" spc="-1" strike="noStrike">
              <a:solidFill>
                <a:srgbClr val="ffffff"/>
              </a:solidFill>
              <a:latin typeface="Arial"/>
            </a:endParaRPr>
          </a:p>
        </p:txBody>
      </p:sp>
      <p:sp>
        <p:nvSpPr>
          <p:cNvPr id="81" name="cell 3"/>
          <p:cNvSpPr/>
          <p:nvPr/>
        </p:nvSpPr>
        <p:spPr>
          <a:xfrm>
            <a:off x="5001840" y="1188720"/>
            <a:ext cx="420120" cy="420120"/>
          </a:xfrm>
          <a:prstGeom prst="roundRect">
            <a:avLst>
              <a:gd name="adj" fmla="val 17391"/>
            </a:avLst>
          </a:prstGeom>
          <a:solidFill>
            <a:srgbClr val="1c1a33"/>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3</a:t>
            </a:r>
            <a:endParaRPr b="0" lang="en-IN" sz="1400" spc="-1" strike="noStrike">
              <a:solidFill>
                <a:srgbClr val="ffffff"/>
              </a:solidFill>
              <a:latin typeface="Arial"/>
            </a:endParaRPr>
          </a:p>
        </p:txBody>
      </p:sp>
      <p:sp>
        <p:nvSpPr>
          <p:cNvPr id="82" name="cell 9"/>
          <p:cNvSpPr/>
          <p:nvPr/>
        </p:nvSpPr>
        <p:spPr>
          <a:xfrm>
            <a:off x="5468040" y="1188720"/>
            <a:ext cx="420120" cy="420120"/>
          </a:xfrm>
          <a:prstGeom prst="roundRect">
            <a:avLst>
              <a:gd name="adj" fmla="val 17391"/>
            </a:avLst>
          </a:prstGeom>
          <a:solidFill>
            <a:srgbClr val="1c1a33"/>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9</a:t>
            </a:r>
            <a:endParaRPr b="0" lang="en-IN" sz="1400" spc="-1" strike="noStrike">
              <a:solidFill>
                <a:srgbClr val="ffffff"/>
              </a:solidFill>
              <a:latin typeface="Arial"/>
            </a:endParaRPr>
          </a:p>
        </p:txBody>
      </p:sp>
      <p:sp>
        <p:nvSpPr>
          <p:cNvPr id="83" name="cell 82"/>
          <p:cNvSpPr/>
          <p:nvPr/>
        </p:nvSpPr>
        <p:spPr>
          <a:xfrm>
            <a:off x="5934600" y="1188720"/>
            <a:ext cx="420120" cy="420120"/>
          </a:xfrm>
          <a:prstGeom prst="roundRect">
            <a:avLst>
              <a:gd name="adj" fmla="val 17391"/>
            </a:avLst>
          </a:prstGeom>
          <a:solidFill>
            <a:srgbClr val="1c1a33"/>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82</a:t>
            </a:r>
            <a:endParaRPr b="0" lang="en-IN" sz="1400" spc="-1" strike="noStrike">
              <a:solidFill>
                <a:srgbClr val="ffffff"/>
              </a:solidFill>
              <a:latin typeface="Arial"/>
            </a:endParaRPr>
          </a:p>
        </p:txBody>
      </p:sp>
      <p:sp>
        <p:nvSpPr>
          <p:cNvPr id="84" name="cell 10"/>
          <p:cNvSpPr/>
          <p:nvPr/>
        </p:nvSpPr>
        <p:spPr>
          <a:xfrm>
            <a:off x="6400800" y="1188720"/>
            <a:ext cx="420120" cy="420120"/>
          </a:xfrm>
          <a:prstGeom prst="roundRect">
            <a:avLst>
              <a:gd name="adj" fmla="val 17391"/>
            </a:avLst>
          </a:prstGeom>
          <a:solidFill>
            <a:srgbClr val="1c1a33"/>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10</a:t>
            </a:r>
            <a:endParaRPr b="0" lang="en-IN" sz="1400" spc="-1" strike="noStrike">
              <a:solidFill>
                <a:srgbClr val="ffffff"/>
              </a:solidFill>
              <a:latin typeface="Arial"/>
            </a:endParaRPr>
          </a:p>
        </p:txBody>
      </p:sp>
      <p:sp>
        <p:nvSpPr>
          <p:cNvPr id="85" name="cell 38"/>
          <p:cNvSpPr/>
          <p:nvPr/>
        </p:nvSpPr>
        <p:spPr>
          <a:xfrm>
            <a:off x="3351240" y="2057400"/>
            <a:ext cx="420120" cy="420120"/>
          </a:xfrm>
          <a:prstGeom prst="roundRect">
            <a:avLst>
              <a:gd name="adj" fmla="val 17391"/>
            </a:avLst>
          </a:prstGeom>
          <a:solidFill>
            <a:srgbClr val="2b2850"/>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38</a:t>
            </a:r>
            <a:endParaRPr b="0" lang="en-IN" sz="1400" spc="-1" strike="noStrike">
              <a:solidFill>
                <a:srgbClr val="ffffff"/>
              </a:solidFill>
              <a:latin typeface="Arial"/>
            </a:endParaRPr>
          </a:p>
        </p:txBody>
      </p:sp>
      <p:sp>
        <p:nvSpPr>
          <p:cNvPr id="86" name="cell 27"/>
          <p:cNvSpPr/>
          <p:nvPr/>
        </p:nvSpPr>
        <p:spPr>
          <a:xfrm>
            <a:off x="3817800" y="2057400"/>
            <a:ext cx="420120" cy="420120"/>
          </a:xfrm>
          <a:prstGeom prst="roundRect">
            <a:avLst>
              <a:gd name="adj" fmla="val 17391"/>
            </a:avLst>
          </a:prstGeom>
          <a:solidFill>
            <a:srgbClr val="2b2850"/>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27</a:t>
            </a:r>
            <a:endParaRPr b="0" lang="en-IN" sz="1400" spc="-1" strike="noStrike">
              <a:solidFill>
                <a:srgbClr val="ffffff"/>
              </a:solidFill>
              <a:latin typeface="Arial"/>
            </a:endParaRPr>
          </a:p>
        </p:txBody>
      </p:sp>
      <p:sp>
        <p:nvSpPr>
          <p:cNvPr id="87" name="cell 43"/>
          <p:cNvSpPr/>
          <p:nvPr/>
        </p:nvSpPr>
        <p:spPr>
          <a:xfrm>
            <a:off x="4284000" y="2057400"/>
            <a:ext cx="420120" cy="420120"/>
          </a:xfrm>
          <a:prstGeom prst="roundRect">
            <a:avLst>
              <a:gd name="adj" fmla="val 17391"/>
            </a:avLst>
          </a:prstGeom>
          <a:solidFill>
            <a:srgbClr val="2b2850"/>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43</a:t>
            </a:r>
            <a:endParaRPr b="0" lang="en-IN" sz="1400" spc="-1" strike="noStrike">
              <a:solidFill>
                <a:srgbClr val="ffffff"/>
              </a:solidFill>
              <a:latin typeface="Arial"/>
            </a:endParaRPr>
          </a:p>
        </p:txBody>
      </p:sp>
      <p:sp>
        <p:nvSpPr>
          <p:cNvPr id="88" name="cell 3"/>
          <p:cNvSpPr/>
          <p:nvPr/>
        </p:nvSpPr>
        <p:spPr>
          <a:xfrm>
            <a:off x="4750200" y="2057400"/>
            <a:ext cx="420120" cy="420120"/>
          </a:xfrm>
          <a:prstGeom prst="roundRect">
            <a:avLst>
              <a:gd name="adj" fmla="val 17391"/>
            </a:avLst>
          </a:prstGeom>
          <a:solidFill>
            <a:srgbClr val="2b2850"/>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3</a:t>
            </a:r>
            <a:endParaRPr b="0" lang="en-IN" sz="1400" spc="-1" strike="noStrike">
              <a:solidFill>
                <a:srgbClr val="ffffff"/>
              </a:solidFill>
              <a:latin typeface="Arial"/>
            </a:endParaRPr>
          </a:p>
        </p:txBody>
      </p:sp>
      <p:sp>
        <p:nvSpPr>
          <p:cNvPr id="89" name="cell 9"/>
          <p:cNvSpPr/>
          <p:nvPr/>
        </p:nvSpPr>
        <p:spPr>
          <a:xfrm>
            <a:off x="5719680" y="2057400"/>
            <a:ext cx="420120" cy="420120"/>
          </a:xfrm>
          <a:prstGeom prst="roundRect">
            <a:avLst>
              <a:gd name="adj" fmla="val 17391"/>
            </a:avLst>
          </a:prstGeom>
          <a:solidFill>
            <a:srgbClr val="2b2850"/>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9</a:t>
            </a:r>
            <a:endParaRPr b="0" lang="en-IN" sz="1400" spc="-1" strike="noStrike">
              <a:solidFill>
                <a:srgbClr val="ffffff"/>
              </a:solidFill>
              <a:latin typeface="Arial"/>
            </a:endParaRPr>
          </a:p>
        </p:txBody>
      </p:sp>
      <p:sp>
        <p:nvSpPr>
          <p:cNvPr id="90" name="cell 82"/>
          <p:cNvSpPr/>
          <p:nvPr/>
        </p:nvSpPr>
        <p:spPr>
          <a:xfrm>
            <a:off x="6185880" y="2057400"/>
            <a:ext cx="420120" cy="420120"/>
          </a:xfrm>
          <a:prstGeom prst="roundRect">
            <a:avLst>
              <a:gd name="adj" fmla="val 17391"/>
            </a:avLst>
          </a:prstGeom>
          <a:solidFill>
            <a:srgbClr val="2b2850"/>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82</a:t>
            </a:r>
            <a:endParaRPr b="0" lang="en-IN" sz="1400" spc="-1" strike="noStrike">
              <a:solidFill>
                <a:srgbClr val="ffffff"/>
              </a:solidFill>
              <a:latin typeface="Arial"/>
            </a:endParaRPr>
          </a:p>
        </p:txBody>
      </p:sp>
      <p:sp>
        <p:nvSpPr>
          <p:cNvPr id="91" name="cell 10"/>
          <p:cNvSpPr/>
          <p:nvPr/>
        </p:nvSpPr>
        <p:spPr>
          <a:xfrm>
            <a:off x="6652440" y="2057400"/>
            <a:ext cx="420120" cy="420120"/>
          </a:xfrm>
          <a:prstGeom prst="roundRect">
            <a:avLst>
              <a:gd name="adj" fmla="val 17391"/>
            </a:avLst>
          </a:prstGeom>
          <a:solidFill>
            <a:srgbClr val="2b2850"/>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10</a:t>
            </a:r>
            <a:endParaRPr b="0" lang="en-IN" sz="1400" spc="-1" strike="noStrike">
              <a:solidFill>
                <a:srgbClr val="ffffff"/>
              </a:solidFill>
              <a:latin typeface="Arial"/>
            </a:endParaRPr>
          </a:p>
        </p:txBody>
      </p:sp>
      <p:sp>
        <p:nvSpPr>
          <p:cNvPr id="92" name="cell 38"/>
          <p:cNvSpPr/>
          <p:nvPr/>
        </p:nvSpPr>
        <p:spPr>
          <a:xfrm>
            <a:off x="3054240" y="2926080"/>
            <a:ext cx="420120" cy="420120"/>
          </a:xfrm>
          <a:prstGeom prst="roundRect">
            <a:avLst>
              <a:gd name="adj" fmla="val 17391"/>
            </a:avLst>
          </a:prstGeom>
          <a:solidFill>
            <a:srgbClr val="6c63ff"/>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38</a:t>
            </a:r>
            <a:endParaRPr b="0" lang="en-IN" sz="1400" spc="-1" strike="noStrike">
              <a:solidFill>
                <a:srgbClr val="ffffff"/>
              </a:solidFill>
              <a:latin typeface="Arial"/>
            </a:endParaRPr>
          </a:p>
        </p:txBody>
      </p:sp>
      <p:sp>
        <p:nvSpPr>
          <p:cNvPr id="93" name="cell 27"/>
          <p:cNvSpPr/>
          <p:nvPr/>
        </p:nvSpPr>
        <p:spPr>
          <a:xfrm>
            <a:off x="3520440" y="2926080"/>
            <a:ext cx="420120" cy="420120"/>
          </a:xfrm>
          <a:prstGeom prst="roundRect">
            <a:avLst>
              <a:gd name="adj" fmla="val 17391"/>
            </a:avLst>
          </a:prstGeom>
          <a:solidFill>
            <a:srgbClr val="6c63ff"/>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27</a:t>
            </a:r>
            <a:endParaRPr b="0" lang="en-IN" sz="1400" spc="-1" strike="noStrike">
              <a:solidFill>
                <a:srgbClr val="ffffff"/>
              </a:solidFill>
              <a:latin typeface="Arial"/>
            </a:endParaRPr>
          </a:p>
        </p:txBody>
      </p:sp>
      <p:sp>
        <p:nvSpPr>
          <p:cNvPr id="94" name="cell 43"/>
          <p:cNvSpPr/>
          <p:nvPr/>
        </p:nvSpPr>
        <p:spPr>
          <a:xfrm>
            <a:off x="4352400" y="2926080"/>
            <a:ext cx="420120" cy="420120"/>
          </a:xfrm>
          <a:prstGeom prst="roundRect">
            <a:avLst>
              <a:gd name="adj" fmla="val 17391"/>
            </a:avLst>
          </a:prstGeom>
          <a:solidFill>
            <a:srgbClr val="6c63ff"/>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43</a:t>
            </a:r>
            <a:endParaRPr b="0" lang="en-IN" sz="1400" spc="-1" strike="noStrike">
              <a:solidFill>
                <a:srgbClr val="ffffff"/>
              </a:solidFill>
              <a:latin typeface="Arial"/>
            </a:endParaRPr>
          </a:p>
        </p:txBody>
      </p:sp>
      <p:sp>
        <p:nvSpPr>
          <p:cNvPr id="95" name="cell 3"/>
          <p:cNvSpPr/>
          <p:nvPr/>
        </p:nvSpPr>
        <p:spPr>
          <a:xfrm>
            <a:off x="4818960" y="2926080"/>
            <a:ext cx="420120" cy="420120"/>
          </a:xfrm>
          <a:prstGeom prst="roundRect">
            <a:avLst>
              <a:gd name="adj" fmla="val 17391"/>
            </a:avLst>
          </a:prstGeom>
          <a:solidFill>
            <a:srgbClr val="6c63ff"/>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3</a:t>
            </a:r>
            <a:endParaRPr b="0" lang="en-IN" sz="1400" spc="-1" strike="noStrike">
              <a:solidFill>
                <a:srgbClr val="ffffff"/>
              </a:solidFill>
              <a:latin typeface="Arial"/>
            </a:endParaRPr>
          </a:p>
        </p:txBody>
      </p:sp>
      <p:sp>
        <p:nvSpPr>
          <p:cNvPr id="96" name="cell 9"/>
          <p:cNvSpPr/>
          <p:nvPr/>
        </p:nvSpPr>
        <p:spPr>
          <a:xfrm>
            <a:off x="5650920" y="2926080"/>
            <a:ext cx="420120" cy="420120"/>
          </a:xfrm>
          <a:prstGeom prst="roundRect">
            <a:avLst>
              <a:gd name="adj" fmla="val 17391"/>
            </a:avLst>
          </a:prstGeom>
          <a:solidFill>
            <a:srgbClr val="6c63ff"/>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9</a:t>
            </a:r>
            <a:endParaRPr b="0" lang="en-IN" sz="1400" spc="-1" strike="noStrike">
              <a:solidFill>
                <a:srgbClr val="ffffff"/>
              </a:solidFill>
              <a:latin typeface="Arial"/>
            </a:endParaRPr>
          </a:p>
        </p:txBody>
      </p:sp>
      <p:sp>
        <p:nvSpPr>
          <p:cNvPr id="97" name="cell 82"/>
          <p:cNvSpPr/>
          <p:nvPr/>
        </p:nvSpPr>
        <p:spPr>
          <a:xfrm>
            <a:off x="6117480" y="2926080"/>
            <a:ext cx="420120" cy="420120"/>
          </a:xfrm>
          <a:prstGeom prst="roundRect">
            <a:avLst>
              <a:gd name="adj" fmla="val 17391"/>
            </a:avLst>
          </a:prstGeom>
          <a:solidFill>
            <a:srgbClr val="6c63ff"/>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82</a:t>
            </a:r>
            <a:endParaRPr b="0" lang="en-IN" sz="1400" spc="-1" strike="noStrike">
              <a:solidFill>
                <a:srgbClr val="ffffff"/>
              </a:solidFill>
              <a:latin typeface="Arial"/>
            </a:endParaRPr>
          </a:p>
        </p:txBody>
      </p:sp>
      <p:sp>
        <p:nvSpPr>
          <p:cNvPr id="98" name="cell 10"/>
          <p:cNvSpPr/>
          <p:nvPr/>
        </p:nvSpPr>
        <p:spPr>
          <a:xfrm>
            <a:off x="6949440" y="2926080"/>
            <a:ext cx="420120" cy="420120"/>
          </a:xfrm>
          <a:prstGeom prst="roundRect">
            <a:avLst>
              <a:gd name="adj" fmla="val 17391"/>
            </a:avLst>
          </a:prstGeom>
          <a:solidFill>
            <a:srgbClr val="6c63ff"/>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10</a:t>
            </a:r>
            <a:endParaRPr b="0" lang="en-IN" sz="1400" spc="-1" strike="noStrike">
              <a:solidFill>
                <a:srgbClr val="ffffff"/>
              </a:solidFill>
              <a:latin typeface="Arial"/>
            </a:endParaRPr>
          </a:p>
        </p:txBody>
      </p:sp>
      <p:sp>
        <p:nvSpPr>
          <p:cNvPr id="99" name="cell 38"/>
          <p:cNvSpPr/>
          <p:nvPr/>
        </p:nvSpPr>
        <p:spPr>
          <a:xfrm>
            <a:off x="2917080" y="3794760"/>
            <a:ext cx="420120" cy="420120"/>
          </a:xfrm>
          <a:prstGeom prst="roundRect">
            <a:avLst>
              <a:gd name="adj" fmla="val 17391"/>
            </a:avLst>
          </a:prstGeom>
          <a:solidFill>
            <a:srgbClr val="ff6b5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38</a:t>
            </a:r>
            <a:endParaRPr b="0" lang="en-IN" sz="1400" spc="-1" strike="noStrike">
              <a:solidFill>
                <a:srgbClr val="ffffff"/>
              </a:solidFill>
              <a:latin typeface="Arial"/>
            </a:endParaRPr>
          </a:p>
        </p:txBody>
      </p:sp>
      <p:sp>
        <p:nvSpPr>
          <p:cNvPr id="100" name="cell 27"/>
          <p:cNvSpPr/>
          <p:nvPr/>
        </p:nvSpPr>
        <p:spPr>
          <a:xfrm>
            <a:off x="3611880" y="3794760"/>
            <a:ext cx="420120" cy="420120"/>
          </a:xfrm>
          <a:prstGeom prst="roundRect">
            <a:avLst>
              <a:gd name="adj" fmla="val 17391"/>
            </a:avLst>
          </a:prstGeom>
          <a:solidFill>
            <a:srgbClr val="ff6b5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27</a:t>
            </a:r>
            <a:endParaRPr b="0" lang="en-IN" sz="1400" spc="-1" strike="noStrike">
              <a:solidFill>
                <a:srgbClr val="ffffff"/>
              </a:solidFill>
              <a:latin typeface="Arial"/>
            </a:endParaRPr>
          </a:p>
        </p:txBody>
      </p:sp>
      <p:sp>
        <p:nvSpPr>
          <p:cNvPr id="101" name="cell 43"/>
          <p:cNvSpPr/>
          <p:nvPr/>
        </p:nvSpPr>
        <p:spPr>
          <a:xfrm>
            <a:off x="4306680" y="3794760"/>
            <a:ext cx="420120" cy="420120"/>
          </a:xfrm>
          <a:prstGeom prst="roundRect">
            <a:avLst>
              <a:gd name="adj" fmla="val 17391"/>
            </a:avLst>
          </a:prstGeom>
          <a:solidFill>
            <a:srgbClr val="ff6b5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43</a:t>
            </a:r>
            <a:endParaRPr b="0" lang="en-IN" sz="1400" spc="-1" strike="noStrike">
              <a:solidFill>
                <a:srgbClr val="ffffff"/>
              </a:solidFill>
              <a:latin typeface="Arial"/>
            </a:endParaRPr>
          </a:p>
        </p:txBody>
      </p:sp>
      <p:sp>
        <p:nvSpPr>
          <p:cNvPr id="102" name="cell 3"/>
          <p:cNvSpPr/>
          <p:nvPr/>
        </p:nvSpPr>
        <p:spPr>
          <a:xfrm>
            <a:off x="5001840" y="3794760"/>
            <a:ext cx="420120" cy="420120"/>
          </a:xfrm>
          <a:prstGeom prst="roundRect">
            <a:avLst>
              <a:gd name="adj" fmla="val 17391"/>
            </a:avLst>
          </a:prstGeom>
          <a:solidFill>
            <a:srgbClr val="ff6b5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3</a:t>
            </a:r>
            <a:endParaRPr b="0" lang="en-IN" sz="1400" spc="-1" strike="noStrike">
              <a:solidFill>
                <a:srgbClr val="ffffff"/>
              </a:solidFill>
              <a:latin typeface="Arial"/>
            </a:endParaRPr>
          </a:p>
        </p:txBody>
      </p:sp>
      <p:sp>
        <p:nvSpPr>
          <p:cNvPr id="103" name="cell 9"/>
          <p:cNvSpPr/>
          <p:nvPr/>
        </p:nvSpPr>
        <p:spPr>
          <a:xfrm>
            <a:off x="5696640" y="3794760"/>
            <a:ext cx="420120" cy="420120"/>
          </a:xfrm>
          <a:prstGeom prst="roundRect">
            <a:avLst>
              <a:gd name="adj" fmla="val 17391"/>
            </a:avLst>
          </a:prstGeom>
          <a:solidFill>
            <a:srgbClr val="ff6b5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9</a:t>
            </a:r>
            <a:endParaRPr b="0" lang="en-IN" sz="1400" spc="-1" strike="noStrike">
              <a:solidFill>
                <a:srgbClr val="ffffff"/>
              </a:solidFill>
              <a:latin typeface="Arial"/>
            </a:endParaRPr>
          </a:p>
        </p:txBody>
      </p:sp>
      <p:sp>
        <p:nvSpPr>
          <p:cNvPr id="104" name="cell 82"/>
          <p:cNvSpPr/>
          <p:nvPr/>
        </p:nvSpPr>
        <p:spPr>
          <a:xfrm>
            <a:off x="6391800" y="3794760"/>
            <a:ext cx="420120" cy="420120"/>
          </a:xfrm>
          <a:prstGeom prst="roundRect">
            <a:avLst>
              <a:gd name="adj" fmla="val 17391"/>
            </a:avLst>
          </a:prstGeom>
          <a:solidFill>
            <a:srgbClr val="ff6b5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82</a:t>
            </a:r>
            <a:endParaRPr b="0" lang="en-IN" sz="1400" spc="-1" strike="noStrike">
              <a:solidFill>
                <a:srgbClr val="ffffff"/>
              </a:solidFill>
              <a:latin typeface="Arial"/>
            </a:endParaRPr>
          </a:p>
        </p:txBody>
      </p:sp>
      <p:sp>
        <p:nvSpPr>
          <p:cNvPr id="105" name="cell 10"/>
          <p:cNvSpPr/>
          <p:nvPr/>
        </p:nvSpPr>
        <p:spPr>
          <a:xfrm>
            <a:off x="7086600" y="3794760"/>
            <a:ext cx="420120" cy="420120"/>
          </a:xfrm>
          <a:prstGeom prst="roundRect">
            <a:avLst>
              <a:gd name="adj" fmla="val 17391"/>
            </a:avLst>
          </a:prstGeom>
          <a:solidFill>
            <a:srgbClr val="ff6b5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10</a:t>
            </a:r>
            <a:endParaRPr b="0" lang="en-IN" sz="1400" spc="-1" strike="noStrike">
              <a:solidFill>
                <a:srgbClr val="ffffff"/>
              </a:solidFill>
              <a:latin typeface="Arial"/>
            </a:endParaRPr>
          </a:p>
        </p:txBody>
      </p:sp>
      <p:sp>
        <p:nvSpPr>
          <p:cNvPr id="106" name="Shape 29"/>
          <p:cNvSpPr/>
          <p:nvPr/>
        </p:nvSpPr>
        <p:spPr>
          <a:xfrm flipH="1">
            <a:off x="4260960" y="1636560"/>
            <a:ext cx="95112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07" name="Shape 30"/>
          <p:cNvSpPr/>
          <p:nvPr/>
        </p:nvSpPr>
        <p:spPr>
          <a:xfrm>
            <a:off x="5212080" y="1636560"/>
            <a:ext cx="118404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08" name="Shape 31"/>
          <p:cNvSpPr/>
          <p:nvPr/>
        </p:nvSpPr>
        <p:spPr>
          <a:xfrm flipH="1">
            <a:off x="3497400" y="2505240"/>
            <a:ext cx="76356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09" name="Shape 32"/>
          <p:cNvSpPr/>
          <p:nvPr/>
        </p:nvSpPr>
        <p:spPr>
          <a:xfrm>
            <a:off x="4260960" y="2505240"/>
            <a:ext cx="53496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10" name="Shape 33"/>
          <p:cNvSpPr/>
          <p:nvPr/>
        </p:nvSpPr>
        <p:spPr>
          <a:xfrm flipH="1">
            <a:off x="6094440" y="2505240"/>
            <a:ext cx="30168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11" name="Shape 34"/>
          <p:cNvSpPr/>
          <p:nvPr/>
        </p:nvSpPr>
        <p:spPr>
          <a:xfrm>
            <a:off x="6396120" y="2505240"/>
            <a:ext cx="76356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12" name="Shape 35"/>
          <p:cNvSpPr/>
          <p:nvPr/>
        </p:nvSpPr>
        <p:spPr>
          <a:xfrm flipH="1">
            <a:off x="3126960" y="3373920"/>
            <a:ext cx="37044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13" name="Shape 36"/>
          <p:cNvSpPr/>
          <p:nvPr/>
        </p:nvSpPr>
        <p:spPr>
          <a:xfrm>
            <a:off x="3497400" y="3373920"/>
            <a:ext cx="32472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14" name="Shape 37"/>
          <p:cNvSpPr/>
          <p:nvPr/>
        </p:nvSpPr>
        <p:spPr>
          <a:xfrm flipH="1">
            <a:off x="4516920" y="3373920"/>
            <a:ext cx="27900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15" name="Shape 38"/>
          <p:cNvSpPr/>
          <p:nvPr/>
        </p:nvSpPr>
        <p:spPr>
          <a:xfrm>
            <a:off x="4795920" y="3373920"/>
            <a:ext cx="41616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16" name="Shape 39"/>
          <p:cNvSpPr/>
          <p:nvPr/>
        </p:nvSpPr>
        <p:spPr>
          <a:xfrm flipH="1">
            <a:off x="5906880" y="3373920"/>
            <a:ext cx="18756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17" name="Shape 40"/>
          <p:cNvSpPr/>
          <p:nvPr/>
        </p:nvSpPr>
        <p:spPr>
          <a:xfrm>
            <a:off x="6094440" y="3373920"/>
            <a:ext cx="50724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18" name="Shape 41"/>
          <p:cNvSpPr/>
          <p:nvPr/>
        </p:nvSpPr>
        <p:spPr>
          <a:xfrm>
            <a:off x="7159680" y="3373920"/>
            <a:ext cx="13716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19" name="Text 42"/>
          <p:cNvSpPr/>
          <p:nvPr/>
        </p:nvSpPr>
        <p:spPr>
          <a:xfrm>
            <a:off x="548640" y="1188720"/>
            <a:ext cx="1096920" cy="420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chemeClr val="dk2"/>
                </a:solidFill>
                <a:latin typeface="Calibri"/>
              </a:rPr>
              <a:t>n = 7</a:t>
            </a:r>
            <a:endParaRPr b="0" lang="en-IN" sz="1300" spc="-1" strike="noStrike">
              <a:solidFill>
                <a:srgbClr val="000000"/>
              </a:solidFill>
              <a:latin typeface="Arial"/>
            </a:endParaRPr>
          </a:p>
        </p:txBody>
      </p:sp>
      <p:sp>
        <p:nvSpPr>
          <p:cNvPr id="120" name="Text 43"/>
          <p:cNvSpPr/>
          <p:nvPr/>
        </p:nvSpPr>
        <p:spPr>
          <a:xfrm>
            <a:off x="548640" y="2057400"/>
            <a:ext cx="1096920" cy="420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chemeClr val="dk2"/>
                </a:solidFill>
                <a:latin typeface="Calibri"/>
              </a:rPr>
              <a:t>n/2</a:t>
            </a:r>
            <a:endParaRPr b="0" lang="en-IN" sz="1300" spc="-1" strike="noStrike">
              <a:solidFill>
                <a:srgbClr val="000000"/>
              </a:solidFill>
              <a:latin typeface="Arial"/>
            </a:endParaRPr>
          </a:p>
        </p:txBody>
      </p:sp>
      <p:sp>
        <p:nvSpPr>
          <p:cNvPr id="121" name="Text 44"/>
          <p:cNvSpPr/>
          <p:nvPr/>
        </p:nvSpPr>
        <p:spPr>
          <a:xfrm>
            <a:off x="548640" y="2926080"/>
            <a:ext cx="1096920" cy="420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chemeClr val="dk2"/>
                </a:solidFill>
                <a:latin typeface="Calibri"/>
              </a:rPr>
              <a:t>n/4</a:t>
            </a:r>
            <a:endParaRPr b="0" lang="en-IN" sz="1300" spc="-1" strike="noStrike">
              <a:solidFill>
                <a:srgbClr val="000000"/>
              </a:solidFill>
              <a:latin typeface="Arial"/>
            </a:endParaRPr>
          </a:p>
        </p:txBody>
      </p:sp>
      <p:sp>
        <p:nvSpPr>
          <p:cNvPr id="122" name="Text 45"/>
          <p:cNvSpPr/>
          <p:nvPr/>
        </p:nvSpPr>
        <p:spPr>
          <a:xfrm>
            <a:off x="548640" y="3794760"/>
            <a:ext cx="1096920" cy="420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chemeClr val="dk2"/>
                </a:solidFill>
                <a:latin typeface="Calibri"/>
              </a:rPr>
              <a:t>size 1</a:t>
            </a:r>
            <a:endParaRPr b="0" lang="en-IN" sz="1300" spc="-1" strike="noStrike">
              <a:solidFill>
                <a:srgbClr val="000000"/>
              </a:solidFill>
              <a:latin typeface="Arial"/>
            </a:endParaRPr>
          </a:p>
        </p:txBody>
      </p:sp>
      <p:sp>
        <p:nvSpPr>
          <p:cNvPr id="123" name="PlaceHolder 2"/>
          <p:cNvSpPr>
            <a:spLocks noGrp="1"/>
          </p:cNvSpPr>
          <p:nvPr>
            <p:ph type="sldNum" idx="8"/>
          </p:nvPr>
        </p:nvSpPr>
        <p:spPr>
          <a:xfrm>
            <a:off x="8321040" y="4754880"/>
            <a:ext cx="456840" cy="27396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chemeClr val="dk2"/>
                </a:solidFill>
                <a:latin typeface="Calibri"/>
              </a:defRPr>
            </a:lvl1pPr>
          </a:lstStyle>
          <a:p>
            <a:pPr indent="0" algn="r" defTabSz="914400">
              <a:lnSpc>
                <a:spcPct val="100000"/>
              </a:lnSpc>
              <a:buNone/>
            </a:pPr>
            <a:fld id="{87D6B7AC-7D02-4D37-9CC8-7609F4A764E5}" type="slidenum">
              <a:rPr b="0" lang="en-US" sz="1000" spc="-1" strike="noStrike">
                <a:solidFill>
                  <a:schemeClr val="dk2"/>
                </a:solidFill>
                <a:latin typeface="Calibri"/>
              </a:rPr>
              <a:t>&lt;number&gt;</a:t>
            </a:fld>
            <a:endParaRPr b="0" lang="en-IN"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548640" y="320040"/>
            <a:ext cx="8046360" cy="639720"/>
          </a:xfrm>
          <a:prstGeom prst="rect">
            <a:avLst/>
          </a:prstGeom>
          <a:noFill/>
          <a:ln w="0">
            <a:noFill/>
          </a:ln>
        </p:spPr>
        <p:txBody>
          <a:bodyPr lIns="0" rIns="0" tIns="0" bIns="0" anchor="ctr">
            <a:noAutofit/>
          </a:bodyPr>
          <a:p>
            <a:pPr indent="0" algn="ctr" defTabSz="914400">
              <a:lnSpc>
                <a:spcPct val="100000"/>
              </a:lnSpc>
              <a:buNone/>
              <a:tabLst>
                <a:tab algn="l" pos="0"/>
              </a:tabLst>
            </a:pPr>
            <a:r>
              <a:rPr b="1" lang="en-US" sz="3200" spc="-1" strike="noStrike">
                <a:solidFill>
                  <a:schemeClr val="dk1"/>
                </a:solidFill>
                <a:latin typeface="Cambria"/>
              </a:rPr>
              <a:t>Step 2 — merge sorted pieces back up</a:t>
            </a:r>
            <a:endParaRPr b="0" lang="en-IN" sz="3200" spc="-1" strike="noStrike">
              <a:solidFill>
                <a:schemeClr val="dk1"/>
              </a:solidFill>
              <a:latin typeface="Calibri"/>
            </a:endParaRPr>
          </a:p>
        </p:txBody>
      </p:sp>
      <p:sp>
        <p:nvSpPr>
          <p:cNvPr id="125" name="cell 38"/>
          <p:cNvSpPr/>
          <p:nvPr/>
        </p:nvSpPr>
        <p:spPr>
          <a:xfrm>
            <a:off x="2917080" y="1188720"/>
            <a:ext cx="420120" cy="420120"/>
          </a:xfrm>
          <a:prstGeom prst="roundRect">
            <a:avLst>
              <a:gd name="adj" fmla="val 17391"/>
            </a:avLst>
          </a:prstGeom>
          <a:solidFill>
            <a:srgbClr val="ff6b5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38</a:t>
            </a:r>
            <a:endParaRPr b="0" lang="en-IN" sz="1400" spc="-1" strike="noStrike">
              <a:solidFill>
                <a:srgbClr val="ffffff"/>
              </a:solidFill>
              <a:latin typeface="Arial"/>
            </a:endParaRPr>
          </a:p>
        </p:txBody>
      </p:sp>
      <p:sp>
        <p:nvSpPr>
          <p:cNvPr id="126" name="cell 27"/>
          <p:cNvSpPr/>
          <p:nvPr/>
        </p:nvSpPr>
        <p:spPr>
          <a:xfrm>
            <a:off x="3611880" y="1188720"/>
            <a:ext cx="420120" cy="420120"/>
          </a:xfrm>
          <a:prstGeom prst="roundRect">
            <a:avLst>
              <a:gd name="adj" fmla="val 17391"/>
            </a:avLst>
          </a:prstGeom>
          <a:solidFill>
            <a:srgbClr val="ff6b5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27</a:t>
            </a:r>
            <a:endParaRPr b="0" lang="en-IN" sz="1400" spc="-1" strike="noStrike">
              <a:solidFill>
                <a:srgbClr val="ffffff"/>
              </a:solidFill>
              <a:latin typeface="Arial"/>
            </a:endParaRPr>
          </a:p>
        </p:txBody>
      </p:sp>
      <p:sp>
        <p:nvSpPr>
          <p:cNvPr id="127" name="cell 43"/>
          <p:cNvSpPr/>
          <p:nvPr/>
        </p:nvSpPr>
        <p:spPr>
          <a:xfrm>
            <a:off x="4306680" y="1188720"/>
            <a:ext cx="420120" cy="420120"/>
          </a:xfrm>
          <a:prstGeom prst="roundRect">
            <a:avLst>
              <a:gd name="adj" fmla="val 17391"/>
            </a:avLst>
          </a:prstGeom>
          <a:solidFill>
            <a:srgbClr val="ff6b5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43</a:t>
            </a:r>
            <a:endParaRPr b="0" lang="en-IN" sz="1400" spc="-1" strike="noStrike">
              <a:solidFill>
                <a:srgbClr val="ffffff"/>
              </a:solidFill>
              <a:latin typeface="Arial"/>
            </a:endParaRPr>
          </a:p>
        </p:txBody>
      </p:sp>
      <p:sp>
        <p:nvSpPr>
          <p:cNvPr id="128" name="cell 3"/>
          <p:cNvSpPr/>
          <p:nvPr/>
        </p:nvSpPr>
        <p:spPr>
          <a:xfrm>
            <a:off x="5001840" y="1188720"/>
            <a:ext cx="420120" cy="420120"/>
          </a:xfrm>
          <a:prstGeom prst="roundRect">
            <a:avLst>
              <a:gd name="adj" fmla="val 17391"/>
            </a:avLst>
          </a:prstGeom>
          <a:solidFill>
            <a:srgbClr val="ff6b5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3</a:t>
            </a:r>
            <a:endParaRPr b="0" lang="en-IN" sz="1400" spc="-1" strike="noStrike">
              <a:solidFill>
                <a:srgbClr val="ffffff"/>
              </a:solidFill>
              <a:latin typeface="Arial"/>
            </a:endParaRPr>
          </a:p>
        </p:txBody>
      </p:sp>
      <p:sp>
        <p:nvSpPr>
          <p:cNvPr id="129" name="cell 9"/>
          <p:cNvSpPr/>
          <p:nvPr/>
        </p:nvSpPr>
        <p:spPr>
          <a:xfrm>
            <a:off x="5696640" y="1188720"/>
            <a:ext cx="420120" cy="420120"/>
          </a:xfrm>
          <a:prstGeom prst="roundRect">
            <a:avLst>
              <a:gd name="adj" fmla="val 17391"/>
            </a:avLst>
          </a:prstGeom>
          <a:solidFill>
            <a:srgbClr val="ff6b5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9</a:t>
            </a:r>
            <a:endParaRPr b="0" lang="en-IN" sz="1400" spc="-1" strike="noStrike">
              <a:solidFill>
                <a:srgbClr val="ffffff"/>
              </a:solidFill>
              <a:latin typeface="Arial"/>
            </a:endParaRPr>
          </a:p>
        </p:txBody>
      </p:sp>
      <p:sp>
        <p:nvSpPr>
          <p:cNvPr id="130" name="cell 82"/>
          <p:cNvSpPr/>
          <p:nvPr/>
        </p:nvSpPr>
        <p:spPr>
          <a:xfrm>
            <a:off x="6391800" y="1188720"/>
            <a:ext cx="420120" cy="420120"/>
          </a:xfrm>
          <a:prstGeom prst="roundRect">
            <a:avLst>
              <a:gd name="adj" fmla="val 17391"/>
            </a:avLst>
          </a:prstGeom>
          <a:solidFill>
            <a:srgbClr val="ff6b5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82</a:t>
            </a:r>
            <a:endParaRPr b="0" lang="en-IN" sz="1400" spc="-1" strike="noStrike">
              <a:solidFill>
                <a:srgbClr val="ffffff"/>
              </a:solidFill>
              <a:latin typeface="Arial"/>
            </a:endParaRPr>
          </a:p>
        </p:txBody>
      </p:sp>
      <p:sp>
        <p:nvSpPr>
          <p:cNvPr id="131" name="cell 10"/>
          <p:cNvSpPr/>
          <p:nvPr/>
        </p:nvSpPr>
        <p:spPr>
          <a:xfrm>
            <a:off x="7086600" y="1188720"/>
            <a:ext cx="420120" cy="420120"/>
          </a:xfrm>
          <a:prstGeom prst="roundRect">
            <a:avLst>
              <a:gd name="adj" fmla="val 17391"/>
            </a:avLst>
          </a:prstGeom>
          <a:solidFill>
            <a:srgbClr val="ff6b5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10</a:t>
            </a:r>
            <a:endParaRPr b="0" lang="en-IN" sz="1400" spc="-1" strike="noStrike">
              <a:solidFill>
                <a:srgbClr val="ffffff"/>
              </a:solidFill>
              <a:latin typeface="Arial"/>
            </a:endParaRPr>
          </a:p>
        </p:txBody>
      </p:sp>
      <p:sp>
        <p:nvSpPr>
          <p:cNvPr id="132" name="cell 27"/>
          <p:cNvSpPr/>
          <p:nvPr/>
        </p:nvSpPr>
        <p:spPr>
          <a:xfrm>
            <a:off x="3054240" y="2057400"/>
            <a:ext cx="420120" cy="420120"/>
          </a:xfrm>
          <a:prstGeom prst="roundRect">
            <a:avLst>
              <a:gd name="adj" fmla="val 17391"/>
            </a:avLst>
          </a:prstGeom>
          <a:solidFill>
            <a:srgbClr val="f2a93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c1a33"/>
                </a:solidFill>
                <a:latin typeface="Calibri"/>
                <a:ea typeface="Calibri"/>
              </a:rPr>
              <a:t>27</a:t>
            </a:r>
            <a:endParaRPr b="0" lang="en-IN" sz="1400" spc="-1" strike="noStrike">
              <a:solidFill>
                <a:srgbClr val="000000"/>
              </a:solidFill>
              <a:latin typeface="Arial"/>
            </a:endParaRPr>
          </a:p>
        </p:txBody>
      </p:sp>
      <p:sp>
        <p:nvSpPr>
          <p:cNvPr id="133" name="cell 38"/>
          <p:cNvSpPr/>
          <p:nvPr/>
        </p:nvSpPr>
        <p:spPr>
          <a:xfrm>
            <a:off x="3520440" y="2057400"/>
            <a:ext cx="420120" cy="420120"/>
          </a:xfrm>
          <a:prstGeom prst="roundRect">
            <a:avLst>
              <a:gd name="adj" fmla="val 17391"/>
            </a:avLst>
          </a:prstGeom>
          <a:solidFill>
            <a:srgbClr val="f2a93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c1a33"/>
                </a:solidFill>
                <a:latin typeface="Calibri"/>
                <a:ea typeface="Calibri"/>
              </a:rPr>
              <a:t>38</a:t>
            </a:r>
            <a:endParaRPr b="0" lang="en-IN" sz="1400" spc="-1" strike="noStrike">
              <a:solidFill>
                <a:srgbClr val="000000"/>
              </a:solidFill>
              <a:latin typeface="Arial"/>
            </a:endParaRPr>
          </a:p>
        </p:txBody>
      </p:sp>
      <p:sp>
        <p:nvSpPr>
          <p:cNvPr id="134" name="cell 3"/>
          <p:cNvSpPr/>
          <p:nvPr/>
        </p:nvSpPr>
        <p:spPr>
          <a:xfrm>
            <a:off x="4352400" y="2057400"/>
            <a:ext cx="420120" cy="420120"/>
          </a:xfrm>
          <a:prstGeom prst="roundRect">
            <a:avLst>
              <a:gd name="adj" fmla="val 17391"/>
            </a:avLst>
          </a:prstGeom>
          <a:solidFill>
            <a:srgbClr val="f2a93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c1a33"/>
                </a:solidFill>
                <a:latin typeface="Calibri"/>
                <a:ea typeface="Calibri"/>
              </a:rPr>
              <a:t>3</a:t>
            </a:r>
            <a:endParaRPr b="0" lang="en-IN" sz="1400" spc="-1" strike="noStrike">
              <a:solidFill>
                <a:srgbClr val="000000"/>
              </a:solidFill>
              <a:latin typeface="Arial"/>
            </a:endParaRPr>
          </a:p>
        </p:txBody>
      </p:sp>
      <p:sp>
        <p:nvSpPr>
          <p:cNvPr id="135" name="cell 43"/>
          <p:cNvSpPr/>
          <p:nvPr/>
        </p:nvSpPr>
        <p:spPr>
          <a:xfrm>
            <a:off x="4818960" y="2057400"/>
            <a:ext cx="420120" cy="420120"/>
          </a:xfrm>
          <a:prstGeom prst="roundRect">
            <a:avLst>
              <a:gd name="adj" fmla="val 17391"/>
            </a:avLst>
          </a:prstGeom>
          <a:solidFill>
            <a:srgbClr val="f2a93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c1a33"/>
                </a:solidFill>
                <a:latin typeface="Calibri"/>
                <a:ea typeface="Calibri"/>
              </a:rPr>
              <a:t>43</a:t>
            </a:r>
            <a:endParaRPr b="0" lang="en-IN" sz="1400" spc="-1" strike="noStrike">
              <a:solidFill>
                <a:srgbClr val="000000"/>
              </a:solidFill>
              <a:latin typeface="Arial"/>
            </a:endParaRPr>
          </a:p>
        </p:txBody>
      </p:sp>
      <p:sp>
        <p:nvSpPr>
          <p:cNvPr id="136" name="cell 9"/>
          <p:cNvSpPr/>
          <p:nvPr/>
        </p:nvSpPr>
        <p:spPr>
          <a:xfrm>
            <a:off x="5650920" y="2057400"/>
            <a:ext cx="420120" cy="420120"/>
          </a:xfrm>
          <a:prstGeom prst="roundRect">
            <a:avLst>
              <a:gd name="adj" fmla="val 17391"/>
            </a:avLst>
          </a:prstGeom>
          <a:solidFill>
            <a:srgbClr val="f2a93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c1a33"/>
                </a:solidFill>
                <a:latin typeface="Calibri"/>
                <a:ea typeface="Calibri"/>
              </a:rPr>
              <a:t>9</a:t>
            </a:r>
            <a:endParaRPr b="0" lang="en-IN" sz="1400" spc="-1" strike="noStrike">
              <a:solidFill>
                <a:srgbClr val="000000"/>
              </a:solidFill>
              <a:latin typeface="Arial"/>
            </a:endParaRPr>
          </a:p>
        </p:txBody>
      </p:sp>
      <p:sp>
        <p:nvSpPr>
          <p:cNvPr id="137" name="cell 82"/>
          <p:cNvSpPr/>
          <p:nvPr/>
        </p:nvSpPr>
        <p:spPr>
          <a:xfrm>
            <a:off x="6117480" y="2057400"/>
            <a:ext cx="420120" cy="420120"/>
          </a:xfrm>
          <a:prstGeom prst="roundRect">
            <a:avLst>
              <a:gd name="adj" fmla="val 17391"/>
            </a:avLst>
          </a:prstGeom>
          <a:solidFill>
            <a:srgbClr val="f2a93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c1a33"/>
                </a:solidFill>
                <a:latin typeface="Calibri"/>
                <a:ea typeface="Calibri"/>
              </a:rPr>
              <a:t>82</a:t>
            </a:r>
            <a:endParaRPr b="0" lang="en-IN" sz="1400" spc="-1" strike="noStrike">
              <a:solidFill>
                <a:srgbClr val="000000"/>
              </a:solidFill>
              <a:latin typeface="Arial"/>
            </a:endParaRPr>
          </a:p>
        </p:txBody>
      </p:sp>
      <p:sp>
        <p:nvSpPr>
          <p:cNvPr id="138" name="cell 10"/>
          <p:cNvSpPr/>
          <p:nvPr/>
        </p:nvSpPr>
        <p:spPr>
          <a:xfrm>
            <a:off x="6949440" y="2057400"/>
            <a:ext cx="420120" cy="420120"/>
          </a:xfrm>
          <a:prstGeom prst="roundRect">
            <a:avLst>
              <a:gd name="adj" fmla="val 17391"/>
            </a:avLst>
          </a:prstGeom>
          <a:solidFill>
            <a:srgbClr val="f2a93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c1a33"/>
                </a:solidFill>
                <a:latin typeface="Calibri"/>
                <a:ea typeface="Calibri"/>
              </a:rPr>
              <a:t>10</a:t>
            </a:r>
            <a:endParaRPr b="0" lang="en-IN" sz="1400" spc="-1" strike="noStrike">
              <a:solidFill>
                <a:srgbClr val="000000"/>
              </a:solidFill>
              <a:latin typeface="Arial"/>
            </a:endParaRPr>
          </a:p>
        </p:txBody>
      </p:sp>
      <p:sp>
        <p:nvSpPr>
          <p:cNvPr id="139" name="cell 3"/>
          <p:cNvSpPr/>
          <p:nvPr/>
        </p:nvSpPr>
        <p:spPr>
          <a:xfrm>
            <a:off x="3351240" y="2926080"/>
            <a:ext cx="420120" cy="420120"/>
          </a:xfrm>
          <a:prstGeom prst="roundRect">
            <a:avLst>
              <a:gd name="adj" fmla="val 17391"/>
            </a:avLst>
          </a:prstGeom>
          <a:solidFill>
            <a:srgbClr val="6c63ff"/>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3</a:t>
            </a:r>
            <a:endParaRPr b="0" lang="en-IN" sz="1400" spc="-1" strike="noStrike">
              <a:solidFill>
                <a:srgbClr val="ffffff"/>
              </a:solidFill>
              <a:latin typeface="Arial"/>
            </a:endParaRPr>
          </a:p>
        </p:txBody>
      </p:sp>
      <p:sp>
        <p:nvSpPr>
          <p:cNvPr id="140" name="cell 27"/>
          <p:cNvSpPr/>
          <p:nvPr/>
        </p:nvSpPr>
        <p:spPr>
          <a:xfrm>
            <a:off x="3817800" y="2926080"/>
            <a:ext cx="420120" cy="420120"/>
          </a:xfrm>
          <a:prstGeom prst="roundRect">
            <a:avLst>
              <a:gd name="adj" fmla="val 17391"/>
            </a:avLst>
          </a:prstGeom>
          <a:solidFill>
            <a:srgbClr val="6c63ff"/>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27</a:t>
            </a:r>
            <a:endParaRPr b="0" lang="en-IN" sz="1400" spc="-1" strike="noStrike">
              <a:solidFill>
                <a:srgbClr val="ffffff"/>
              </a:solidFill>
              <a:latin typeface="Arial"/>
            </a:endParaRPr>
          </a:p>
        </p:txBody>
      </p:sp>
      <p:sp>
        <p:nvSpPr>
          <p:cNvPr id="141" name="cell 38"/>
          <p:cNvSpPr/>
          <p:nvPr/>
        </p:nvSpPr>
        <p:spPr>
          <a:xfrm>
            <a:off x="4284000" y="2926080"/>
            <a:ext cx="420120" cy="420120"/>
          </a:xfrm>
          <a:prstGeom prst="roundRect">
            <a:avLst>
              <a:gd name="adj" fmla="val 17391"/>
            </a:avLst>
          </a:prstGeom>
          <a:solidFill>
            <a:srgbClr val="6c63ff"/>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38</a:t>
            </a:r>
            <a:endParaRPr b="0" lang="en-IN" sz="1400" spc="-1" strike="noStrike">
              <a:solidFill>
                <a:srgbClr val="ffffff"/>
              </a:solidFill>
              <a:latin typeface="Arial"/>
            </a:endParaRPr>
          </a:p>
        </p:txBody>
      </p:sp>
      <p:sp>
        <p:nvSpPr>
          <p:cNvPr id="142" name="cell 43"/>
          <p:cNvSpPr/>
          <p:nvPr/>
        </p:nvSpPr>
        <p:spPr>
          <a:xfrm>
            <a:off x="4750200" y="2926080"/>
            <a:ext cx="420120" cy="420120"/>
          </a:xfrm>
          <a:prstGeom prst="roundRect">
            <a:avLst>
              <a:gd name="adj" fmla="val 17391"/>
            </a:avLst>
          </a:prstGeom>
          <a:solidFill>
            <a:srgbClr val="6c63ff"/>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43</a:t>
            </a:r>
            <a:endParaRPr b="0" lang="en-IN" sz="1400" spc="-1" strike="noStrike">
              <a:solidFill>
                <a:srgbClr val="ffffff"/>
              </a:solidFill>
              <a:latin typeface="Arial"/>
            </a:endParaRPr>
          </a:p>
        </p:txBody>
      </p:sp>
      <p:sp>
        <p:nvSpPr>
          <p:cNvPr id="143" name="cell 9"/>
          <p:cNvSpPr/>
          <p:nvPr/>
        </p:nvSpPr>
        <p:spPr>
          <a:xfrm>
            <a:off x="5719680" y="2926080"/>
            <a:ext cx="420120" cy="420120"/>
          </a:xfrm>
          <a:prstGeom prst="roundRect">
            <a:avLst>
              <a:gd name="adj" fmla="val 17391"/>
            </a:avLst>
          </a:prstGeom>
          <a:solidFill>
            <a:srgbClr val="6c63ff"/>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9</a:t>
            </a:r>
            <a:endParaRPr b="0" lang="en-IN" sz="1400" spc="-1" strike="noStrike">
              <a:solidFill>
                <a:srgbClr val="ffffff"/>
              </a:solidFill>
              <a:latin typeface="Arial"/>
            </a:endParaRPr>
          </a:p>
        </p:txBody>
      </p:sp>
      <p:sp>
        <p:nvSpPr>
          <p:cNvPr id="144" name="cell 10"/>
          <p:cNvSpPr/>
          <p:nvPr/>
        </p:nvSpPr>
        <p:spPr>
          <a:xfrm>
            <a:off x="6185880" y="2926080"/>
            <a:ext cx="420120" cy="420120"/>
          </a:xfrm>
          <a:prstGeom prst="roundRect">
            <a:avLst>
              <a:gd name="adj" fmla="val 17391"/>
            </a:avLst>
          </a:prstGeom>
          <a:solidFill>
            <a:srgbClr val="6c63ff"/>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10</a:t>
            </a:r>
            <a:endParaRPr b="0" lang="en-IN" sz="1400" spc="-1" strike="noStrike">
              <a:solidFill>
                <a:srgbClr val="ffffff"/>
              </a:solidFill>
              <a:latin typeface="Arial"/>
            </a:endParaRPr>
          </a:p>
        </p:txBody>
      </p:sp>
      <p:sp>
        <p:nvSpPr>
          <p:cNvPr id="145" name="cell 82"/>
          <p:cNvSpPr/>
          <p:nvPr/>
        </p:nvSpPr>
        <p:spPr>
          <a:xfrm>
            <a:off x="6652440" y="2926080"/>
            <a:ext cx="420120" cy="420120"/>
          </a:xfrm>
          <a:prstGeom prst="roundRect">
            <a:avLst>
              <a:gd name="adj" fmla="val 17391"/>
            </a:avLst>
          </a:prstGeom>
          <a:solidFill>
            <a:srgbClr val="6c63ff"/>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82</a:t>
            </a:r>
            <a:endParaRPr b="0" lang="en-IN" sz="1400" spc="-1" strike="noStrike">
              <a:solidFill>
                <a:srgbClr val="ffffff"/>
              </a:solidFill>
              <a:latin typeface="Arial"/>
            </a:endParaRPr>
          </a:p>
        </p:txBody>
      </p:sp>
      <p:sp>
        <p:nvSpPr>
          <p:cNvPr id="146" name="cell 3"/>
          <p:cNvSpPr/>
          <p:nvPr/>
        </p:nvSpPr>
        <p:spPr>
          <a:xfrm>
            <a:off x="3602880" y="3794760"/>
            <a:ext cx="420120" cy="420120"/>
          </a:xfrm>
          <a:prstGeom prst="roundRect">
            <a:avLst>
              <a:gd name="adj" fmla="val 17391"/>
            </a:avLst>
          </a:prstGeom>
          <a:solidFill>
            <a:srgbClr val="1fa99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3</a:t>
            </a:r>
            <a:endParaRPr b="0" lang="en-IN" sz="1400" spc="-1" strike="noStrike">
              <a:solidFill>
                <a:srgbClr val="ffffff"/>
              </a:solidFill>
              <a:latin typeface="Arial"/>
            </a:endParaRPr>
          </a:p>
        </p:txBody>
      </p:sp>
      <p:sp>
        <p:nvSpPr>
          <p:cNvPr id="147" name="cell 9"/>
          <p:cNvSpPr/>
          <p:nvPr/>
        </p:nvSpPr>
        <p:spPr>
          <a:xfrm>
            <a:off x="4069080" y="3794760"/>
            <a:ext cx="420120" cy="420120"/>
          </a:xfrm>
          <a:prstGeom prst="roundRect">
            <a:avLst>
              <a:gd name="adj" fmla="val 17391"/>
            </a:avLst>
          </a:prstGeom>
          <a:solidFill>
            <a:srgbClr val="1fa99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9</a:t>
            </a:r>
            <a:endParaRPr b="0" lang="en-IN" sz="1400" spc="-1" strike="noStrike">
              <a:solidFill>
                <a:srgbClr val="ffffff"/>
              </a:solidFill>
              <a:latin typeface="Arial"/>
            </a:endParaRPr>
          </a:p>
        </p:txBody>
      </p:sp>
      <p:sp>
        <p:nvSpPr>
          <p:cNvPr id="148" name="cell 10"/>
          <p:cNvSpPr/>
          <p:nvPr/>
        </p:nvSpPr>
        <p:spPr>
          <a:xfrm>
            <a:off x="4535280" y="3794760"/>
            <a:ext cx="420120" cy="420120"/>
          </a:xfrm>
          <a:prstGeom prst="roundRect">
            <a:avLst>
              <a:gd name="adj" fmla="val 17391"/>
            </a:avLst>
          </a:prstGeom>
          <a:solidFill>
            <a:srgbClr val="1fa99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10</a:t>
            </a:r>
            <a:endParaRPr b="0" lang="en-IN" sz="1400" spc="-1" strike="noStrike">
              <a:solidFill>
                <a:srgbClr val="ffffff"/>
              </a:solidFill>
              <a:latin typeface="Arial"/>
            </a:endParaRPr>
          </a:p>
        </p:txBody>
      </p:sp>
      <p:sp>
        <p:nvSpPr>
          <p:cNvPr id="149" name="cell 27"/>
          <p:cNvSpPr/>
          <p:nvPr/>
        </p:nvSpPr>
        <p:spPr>
          <a:xfrm>
            <a:off x="5001840" y="3794760"/>
            <a:ext cx="420120" cy="420120"/>
          </a:xfrm>
          <a:prstGeom prst="roundRect">
            <a:avLst>
              <a:gd name="adj" fmla="val 17391"/>
            </a:avLst>
          </a:prstGeom>
          <a:solidFill>
            <a:srgbClr val="1fa99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27</a:t>
            </a:r>
            <a:endParaRPr b="0" lang="en-IN" sz="1400" spc="-1" strike="noStrike">
              <a:solidFill>
                <a:srgbClr val="ffffff"/>
              </a:solidFill>
              <a:latin typeface="Arial"/>
            </a:endParaRPr>
          </a:p>
        </p:txBody>
      </p:sp>
      <p:sp>
        <p:nvSpPr>
          <p:cNvPr id="150" name="cell 38"/>
          <p:cNvSpPr/>
          <p:nvPr/>
        </p:nvSpPr>
        <p:spPr>
          <a:xfrm>
            <a:off x="5468040" y="3794760"/>
            <a:ext cx="420120" cy="420120"/>
          </a:xfrm>
          <a:prstGeom prst="roundRect">
            <a:avLst>
              <a:gd name="adj" fmla="val 17391"/>
            </a:avLst>
          </a:prstGeom>
          <a:solidFill>
            <a:srgbClr val="1fa99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38</a:t>
            </a:r>
            <a:endParaRPr b="0" lang="en-IN" sz="1400" spc="-1" strike="noStrike">
              <a:solidFill>
                <a:srgbClr val="ffffff"/>
              </a:solidFill>
              <a:latin typeface="Arial"/>
            </a:endParaRPr>
          </a:p>
        </p:txBody>
      </p:sp>
      <p:sp>
        <p:nvSpPr>
          <p:cNvPr id="151" name="cell 43"/>
          <p:cNvSpPr/>
          <p:nvPr/>
        </p:nvSpPr>
        <p:spPr>
          <a:xfrm>
            <a:off x="5934600" y="3794760"/>
            <a:ext cx="420120" cy="420120"/>
          </a:xfrm>
          <a:prstGeom prst="roundRect">
            <a:avLst>
              <a:gd name="adj" fmla="val 17391"/>
            </a:avLst>
          </a:prstGeom>
          <a:solidFill>
            <a:srgbClr val="1fa99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43</a:t>
            </a:r>
            <a:endParaRPr b="0" lang="en-IN" sz="1400" spc="-1" strike="noStrike">
              <a:solidFill>
                <a:srgbClr val="ffffff"/>
              </a:solidFill>
              <a:latin typeface="Arial"/>
            </a:endParaRPr>
          </a:p>
        </p:txBody>
      </p:sp>
      <p:sp>
        <p:nvSpPr>
          <p:cNvPr id="152" name="cell 82"/>
          <p:cNvSpPr/>
          <p:nvPr/>
        </p:nvSpPr>
        <p:spPr>
          <a:xfrm>
            <a:off x="6400800" y="3794760"/>
            <a:ext cx="420120" cy="420120"/>
          </a:xfrm>
          <a:prstGeom prst="roundRect">
            <a:avLst>
              <a:gd name="adj" fmla="val 17391"/>
            </a:avLst>
          </a:prstGeom>
          <a:solidFill>
            <a:srgbClr val="1fa99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82</a:t>
            </a:r>
            <a:endParaRPr b="0" lang="en-IN" sz="1400" spc="-1" strike="noStrike">
              <a:solidFill>
                <a:srgbClr val="ffffff"/>
              </a:solidFill>
              <a:latin typeface="Arial"/>
            </a:endParaRPr>
          </a:p>
        </p:txBody>
      </p:sp>
      <p:sp>
        <p:nvSpPr>
          <p:cNvPr id="153" name="Shape 29"/>
          <p:cNvSpPr/>
          <p:nvPr/>
        </p:nvSpPr>
        <p:spPr>
          <a:xfrm>
            <a:off x="3126960" y="1636560"/>
            <a:ext cx="37044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54" name="Shape 30"/>
          <p:cNvSpPr/>
          <p:nvPr/>
        </p:nvSpPr>
        <p:spPr>
          <a:xfrm flipH="1">
            <a:off x="3497400" y="1636560"/>
            <a:ext cx="32472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55" name="Shape 31"/>
          <p:cNvSpPr/>
          <p:nvPr/>
        </p:nvSpPr>
        <p:spPr>
          <a:xfrm>
            <a:off x="4516920" y="1636560"/>
            <a:ext cx="27900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56" name="Shape 32"/>
          <p:cNvSpPr/>
          <p:nvPr/>
        </p:nvSpPr>
        <p:spPr>
          <a:xfrm flipH="1">
            <a:off x="4795920" y="1636560"/>
            <a:ext cx="41616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57" name="Shape 33"/>
          <p:cNvSpPr/>
          <p:nvPr/>
        </p:nvSpPr>
        <p:spPr>
          <a:xfrm>
            <a:off x="5906880" y="1636560"/>
            <a:ext cx="18756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58" name="Shape 34"/>
          <p:cNvSpPr/>
          <p:nvPr/>
        </p:nvSpPr>
        <p:spPr>
          <a:xfrm flipH="1">
            <a:off x="6094440" y="1636560"/>
            <a:ext cx="50724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59" name="Shape 35"/>
          <p:cNvSpPr/>
          <p:nvPr/>
        </p:nvSpPr>
        <p:spPr>
          <a:xfrm flipH="1">
            <a:off x="7159680" y="1636560"/>
            <a:ext cx="13716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60" name="Shape 36"/>
          <p:cNvSpPr/>
          <p:nvPr/>
        </p:nvSpPr>
        <p:spPr>
          <a:xfrm>
            <a:off x="3497400" y="2505240"/>
            <a:ext cx="76356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61" name="Shape 37"/>
          <p:cNvSpPr/>
          <p:nvPr/>
        </p:nvSpPr>
        <p:spPr>
          <a:xfrm flipH="1">
            <a:off x="4260960" y="2505240"/>
            <a:ext cx="53496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62" name="Shape 38"/>
          <p:cNvSpPr/>
          <p:nvPr/>
        </p:nvSpPr>
        <p:spPr>
          <a:xfrm>
            <a:off x="6094440" y="2505240"/>
            <a:ext cx="30168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63" name="Shape 39"/>
          <p:cNvSpPr/>
          <p:nvPr/>
        </p:nvSpPr>
        <p:spPr>
          <a:xfrm flipH="1">
            <a:off x="6396120" y="2505240"/>
            <a:ext cx="76356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64" name="Shape 40"/>
          <p:cNvSpPr/>
          <p:nvPr/>
        </p:nvSpPr>
        <p:spPr>
          <a:xfrm>
            <a:off x="4260960" y="3373920"/>
            <a:ext cx="95112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65" name="Shape 41"/>
          <p:cNvSpPr/>
          <p:nvPr/>
        </p:nvSpPr>
        <p:spPr>
          <a:xfrm flipH="1">
            <a:off x="5212080" y="3373920"/>
            <a:ext cx="1184040" cy="393120"/>
          </a:xfrm>
          <a:prstGeom prst="line">
            <a:avLst/>
          </a:prstGeom>
          <a:ln w="15875">
            <a:solidFill>
              <a:srgbClr val="d9d6ea"/>
            </a:solidFill>
            <a:round/>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166" name="Text 42"/>
          <p:cNvSpPr/>
          <p:nvPr/>
        </p:nvSpPr>
        <p:spPr>
          <a:xfrm>
            <a:off x="548640" y="1188720"/>
            <a:ext cx="1096920" cy="420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chemeClr val="dk2"/>
                </a:solidFill>
                <a:latin typeface="Calibri"/>
              </a:rPr>
              <a:t>size 1</a:t>
            </a:r>
            <a:endParaRPr b="0" lang="en-IN" sz="1300" spc="-1" strike="noStrike">
              <a:solidFill>
                <a:srgbClr val="000000"/>
              </a:solidFill>
              <a:latin typeface="Arial"/>
            </a:endParaRPr>
          </a:p>
        </p:txBody>
      </p:sp>
      <p:sp>
        <p:nvSpPr>
          <p:cNvPr id="167" name="Text 43"/>
          <p:cNvSpPr/>
          <p:nvPr/>
        </p:nvSpPr>
        <p:spPr>
          <a:xfrm>
            <a:off x="548640" y="2057400"/>
            <a:ext cx="1096920" cy="420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chemeClr val="dk2"/>
                </a:solidFill>
                <a:latin typeface="Calibri"/>
              </a:rPr>
              <a:t>pairs</a:t>
            </a:r>
            <a:endParaRPr b="0" lang="en-IN" sz="1300" spc="-1" strike="noStrike">
              <a:solidFill>
                <a:srgbClr val="000000"/>
              </a:solidFill>
              <a:latin typeface="Arial"/>
            </a:endParaRPr>
          </a:p>
        </p:txBody>
      </p:sp>
      <p:sp>
        <p:nvSpPr>
          <p:cNvPr id="168" name="Text 44"/>
          <p:cNvSpPr/>
          <p:nvPr/>
        </p:nvSpPr>
        <p:spPr>
          <a:xfrm>
            <a:off x="548640" y="2926080"/>
            <a:ext cx="1096920" cy="420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chemeClr val="dk2"/>
                </a:solidFill>
                <a:latin typeface="Calibri"/>
              </a:rPr>
              <a:t>halves</a:t>
            </a:r>
            <a:endParaRPr b="0" lang="en-IN" sz="1300" spc="-1" strike="noStrike">
              <a:solidFill>
                <a:srgbClr val="000000"/>
              </a:solidFill>
              <a:latin typeface="Arial"/>
            </a:endParaRPr>
          </a:p>
        </p:txBody>
      </p:sp>
      <p:sp>
        <p:nvSpPr>
          <p:cNvPr id="169" name="Text 45"/>
          <p:cNvSpPr/>
          <p:nvPr/>
        </p:nvSpPr>
        <p:spPr>
          <a:xfrm>
            <a:off x="548640" y="3794760"/>
            <a:ext cx="1096920" cy="420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chemeClr val="dk2"/>
                </a:solidFill>
                <a:latin typeface="Calibri"/>
              </a:rPr>
              <a:t>sorted</a:t>
            </a:r>
            <a:endParaRPr b="0" lang="en-IN" sz="1300" spc="-1" strike="noStrike">
              <a:solidFill>
                <a:srgbClr val="000000"/>
              </a:solidFill>
              <a:latin typeface="Arial"/>
            </a:endParaRPr>
          </a:p>
        </p:txBody>
      </p:sp>
      <p:sp>
        <p:nvSpPr>
          <p:cNvPr id="170" name="PlaceHolder 2"/>
          <p:cNvSpPr>
            <a:spLocks noGrp="1"/>
          </p:cNvSpPr>
          <p:nvPr>
            <p:ph type="sldNum" idx="9"/>
          </p:nvPr>
        </p:nvSpPr>
        <p:spPr>
          <a:xfrm>
            <a:off x="8321040" y="4754880"/>
            <a:ext cx="456840" cy="27396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chemeClr val="dk2"/>
                </a:solidFill>
                <a:latin typeface="Calibri"/>
              </a:defRPr>
            </a:lvl1pPr>
          </a:lstStyle>
          <a:p>
            <a:pPr indent="0" algn="r" defTabSz="914400">
              <a:lnSpc>
                <a:spcPct val="100000"/>
              </a:lnSpc>
              <a:buNone/>
            </a:pPr>
            <a:fld id="{BE29F982-9FA1-45EE-991F-D47B41CDAA42}" type="slidenum">
              <a:rPr b="0" lang="en-US" sz="1000" spc="-1" strike="noStrike">
                <a:solidFill>
                  <a:schemeClr val="dk2"/>
                </a:solidFill>
                <a:latin typeface="Calibri"/>
              </a:rPr>
              <a:t>&lt;number&gt;</a:t>
            </a:fld>
            <a:endParaRPr b="0" lang="en-IN"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548640" y="320040"/>
            <a:ext cx="8046360" cy="639720"/>
          </a:xfrm>
          <a:prstGeom prst="rect">
            <a:avLst/>
          </a:prstGeom>
          <a:noFill/>
          <a:ln w="0">
            <a:noFill/>
          </a:ln>
        </p:spPr>
        <p:txBody>
          <a:bodyPr lIns="0" rIns="0" tIns="0" bIns="0" anchor="ctr">
            <a:noAutofit/>
          </a:bodyPr>
          <a:p>
            <a:pPr indent="0" algn="ctr" defTabSz="914400">
              <a:lnSpc>
                <a:spcPct val="100000"/>
              </a:lnSpc>
              <a:buNone/>
              <a:tabLst>
                <a:tab algn="l" pos="0"/>
              </a:tabLst>
            </a:pPr>
            <a:r>
              <a:rPr b="1" lang="en-US" sz="3200" spc="-1" strike="noStrike">
                <a:solidFill>
                  <a:schemeClr val="dk1"/>
                </a:solidFill>
                <a:latin typeface="Cambria"/>
              </a:rPr>
              <a:t>Inside merge: compare the fronts</a:t>
            </a:r>
            <a:endParaRPr b="0" lang="en-IN" sz="3200" spc="-1" strike="noStrike">
              <a:solidFill>
                <a:schemeClr val="dk1"/>
              </a:solidFill>
              <a:latin typeface="Calibri"/>
            </a:endParaRPr>
          </a:p>
        </p:txBody>
      </p:sp>
      <p:sp>
        <p:nvSpPr>
          <p:cNvPr id="172" name="Text 1"/>
          <p:cNvSpPr/>
          <p:nvPr/>
        </p:nvSpPr>
        <p:spPr>
          <a:xfrm>
            <a:off x="548640" y="1188720"/>
            <a:ext cx="18284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chemeClr val="dk2"/>
                </a:solidFill>
                <a:latin typeface="Calibri"/>
              </a:rPr>
              <a:t>Left half</a:t>
            </a:r>
            <a:endParaRPr b="0" lang="en-IN" sz="1300" spc="-1" strike="noStrike">
              <a:solidFill>
                <a:srgbClr val="000000"/>
              </a:solidFill>
              <a:latin typeface="Arial"/>
            </a:endParaRPr>
          </a:p>
        </p:txBody>
      </p:sp>
      <p:sp>
        <p:nvSpPr>
          <p:cNvPr id="173" name="cell 3"/>
          <p:cNvSpPr/>
          <p:nvPr/>
        </p:nvSpPr>
        <p:spPr>
          <a:xfrm>
            <a:off x="548640" y="1481400"/>
            <a:ext cx="420120" cy="420120"/>
          </a:xfrm>
          <a:prstGeom prst="roundRect">
            <a:avLst>
              <a:gd name="adj" fmla="val 17391"/>
            </a:avLst>
          </a:prstGeom>
          <a:solidFill>
            <a:srgbClr val="d9d6ea"/>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5b5878"/>
                </a:solidFill>
                <a:latin typeface="Calibri"/>
                <a:ea typeface="Calibri"/>
              </a:rPr>
              <a:t>3</a:t>
            </a:r>
            <a:endParaRPr b="0" lang="en-IN" sz="1400" spc="-1" strike="noStrike">
              <a:solidFill>
                <a:srgbClr val="000000"/>
              </a:solidFill>
              <a:latin typeface="Arial"/>
            </a:endParaRPr>
          </a:p>
        </p:txBody>
      </p:sp>
      <p:sp>
        <p:nvSpPr>
          <p:cNvPr id="174" name="cell 27"/>
          <p:cNvSpPr/>
          <p:nvPr/>
        </p:nvSpPr>
        <p:spPr>
          <a:xfrm>
            <a:off x="1014840" y="1481400"/>
            <a:ext cx="420120" cy="420120"/>
          </a:xfrm>
          <a:prstGeom prst="roundRect">
            <a:avLst>
              <a:gd name="adj" fmla="val 17391"/>
            </a:avLst>
          </a:prstGeom>
          <a:solidFill>
            <a:srgbClr val="6c63ff"/>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27</a:t>
            </a:r>
            <a:endParaRPr b="0" lang="en-IN" sz="1400" spc="-1" strike="noStrike">
              <a:solidFill>
                <a:srgbClr val="ffffff"/>
              </a:solidFill>
              <a:latin typeface="Arial"/>
            </a:endParaRPr>
          </a:p>
        </p:txBody>
      </p:sp>
      <p:sp>
        <p:nvSpPr>
          <p:cNvPr id="175" name="cell 38"/>
          <p:cNvSpPr/>
          <p:nvPr/>
        </p:nvSpPr>
        <p:spPr>
          <a:xfrm>
            <a:off x="1481400" y="1481400"/>
            <a:ext cx="420120" cy="420120"/>
          </a:xfrm>
          <a:prstGeom prst="roundRect">
            <a:avLst>
              <a:gd name="adj" fmla="val 17391"/>
            </a:avLst>
          </a:prstGeom>
          <a:solidFill>
            <a:srgbClr val="6c63ff"/>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38</a:t>
            </a:r>
            <a:endParaRPr b="0" lang="en-IN" sz="1400" spc="-1" strike="noStrike">
              <a:solidFill>
                <a:srgbClr val="ffffff"/>
              </a:solidFill>
              <a:latin typeface="Arial"/>
            </a:endParaRPr>
          </a:p>
        </p:txBody>
      </p:sp>
      <p:sp>
        <p:nvSpPr>
          <p:cNvPr id="176" name="cell 43"/>
          <p:cNvSpPr/>
          <p:nvPr/>
        </p:nvSpPr>
        <p:spPr>
          <a:xfrm>
            <a:off x="1947600" y="1481400"/>
            <a:ext cx="420120" cy="420120"/>
          </a:xfrm>
          <a:prstGeom prst="roundRect">
            <a:avLst>
              <a:gd name="adj" fmla="val 17391"/>
            </a:avLst>
          </a:prstGeom>
          <a:solidFill>
            <a:srgbClr val="6c63ff"/>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43</a:t>
            </a:r>
            <a:endParaRPr b="0" lang="en-IN" sz="1400" spc="-1" strike="noStrike">
              <a:solidFill>
                <a:srgbClr val="ffffff"/>
              </a:solidFill>
              <a:latin typeface="Arial"/>
            </a:endParaRPr>
          </a:p>
        </p:txBody>
      </p:sp>
      <p:sp>
        <p:nvSpPr>
          <p:cNvPr id="177" name="Text 6"/>
          <p:cNvSpPr/>
          <p:nvPr/>
        </p:nvSpPr>
        <p:spPr>
          <a:xfrm>
            <a:off x="2743200" y="1188720"/>
            <a:ext cx="18284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chemeClr val="dk2"/>
                </a:solidFill>
                <a:latin typeface="Calibri"/>
              </a:rPr>
              <a:t>Right half</a:t>
            </a:r>
            <a:endParaRPr b="0" lang="en-IN" sz="1300" spc="-1" strike="noStrike">
              <a:solidFill>
                <a:srgbClr val="000000"/>
              </a:solidFill>
              <a:latin typeface="Arial"/>
            </a:endParaRPr>
          </a:p>
        </p:txBody>
      </p:sp>
      <p:sp>
        <p:nvSpPr>
          <p:cNvPr id="178" name="cell 9"/>
          <p:cNvSpPr/>
          <p:nvPr/>
        </p:nvSpPr>
        <p:spPr>
          <a:xfrm>
            <a:off x="2743200" y="1481400"/>
            <a:ext cx="420120" cy="420120"/>
          </a:xfrm>
          <a:prstGeom prst="roundRect">
            <a:avLst>
              <a:gd name="adj" fmla="val 17391"/>
            </a:avLst>
          </a:prstGeom>
          <a:solidFill>
            <a:srgbClr val="d9d6ea"/>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5b5878"/>
                </a:solidFill>
                <a:latin typeface="Calibri"/>
                <a:ea typeface="Calibri"/>
              </a:rPr>
              <a:t>9</a:t>
            </a:r>
            <a:endParaRPr b="0" lang="en-IN" sz="1400" spc="-1" strike="noStrike">
              <a:solidFill>
                <a:srgbClr val="000000"/>
              </a:solidFill>
              <a:latin typeface="Arial"/>
            </a:endParaRPr>
          </a:p>
        </p:txBody>
      </p:sp>
      <p:sp>
        <p:nvSpPr>
          <p:cNvPr id="179" name="cell 10"/>
          <p:cNvSpPr/>
          <p:nvPr/>
        </p:nvSpPr>
        <p:spPr>
          <a:xfrm>
            <a:off x="3209400" y="1481400"/>
            <a:ext cx="420120" cy="420120"/>
          </a:xfrm>
          <a:prstGeom prst="roundRect">
            <a:avLst>
              <a:gd name="adj" fmla="val 17391"/>
            </a:avLst>
          </a:prstGeom>
          <a:solidFill>
            <a:srgbClr val="d9d6ea"/>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5b5878"/>
                </a:solidFill>
                <a:latin typeface="Calibri"/>
                <a:ea typeface="Calibri"/>
              </a:rPr>
              <a:t>10</a:t>
            </a:r>
            <a:endParaRPr b="0" lang="en-IN" sz="1400" spc="-1" strike="noStrike">
              <a:solidFill>
                <a:srgbClr val="000000"/>
              </a:solidFill>
              <a:latin typeface="Arial"/>
            </a:endParaRPr>
          </a:p>
        </p:txBody>
      </p:sp>
      <p:sp>
        <p:nvSpPr>
          <p:cNvPr id="180" name="cell 82"/>
          <p:cNvSpPr/>
          <p:nvPr/>
        </p:nvSpPr>
        <p:spPr>
          <a:xfrm>
            <a:off x="3675960" y="1481400"/>
            <a:ext cx="420120" cy="420120"/>
          </a:xfrm>
          <a:prstGeom prst="roundRect">
            <a:avLst>
              <a:gd name="adj" fmla="val 17391"/>
            </a:avLst>
          </a:prstGeom>
          <a:solidFill>
            <a:srgbClr val="6c63ff"/>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82</a:t>
            </a:r>
            <a:endParaRPr b="0" lang="en-IN" sz="1400" spc="-1" strike="noStrike">
              <a:solidFill>
                <a:srgbClr val="ffffff"/>
              </a:solidFill>
              <a:latin typeface="Arial"/>
            </a:endParaRPr>
          </a:p>
        </p:txBody>
      </p:sp>
      <p:sp>
        <p:nvSpPr>
          <p:cNvPr id="181" name="Text 10"/>
          <p:cNvSpPr/>
          <p:nvPr/>
        </p:nvSpPr>
        <p:spPr>
          <a:xfrm>
            <a:off x="1014840" y="1938600"/>
            <a:ext cx="54828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chemeClr val="accent1"/>
                </a:solidFill>
                <a:latin typeface="Calibri"/>
              </a:rPr>
              <a:t>▲ </a:t>
            </a:r>
            <a:r>
              <a:rPr b="1" lang="en-US" sz="1300" spc="-1" strike="noStrike">
                <a:solidFill>
                  <a:schemeClr val="accent1"/>
                </a:solidFill>
                <a:latin typeface="Calibri"/>
              </a:rPr>
              <a:t>i</a:t>
            </a:r>
            <a:endParaRPr b="0" lang="en-IN" sz="1300" spc="-1" strike="noStrike">
              <a:solidFill>
                <a:srgbClr val="000000"/>
              </a:solidFill>
              <a:latin typeface="Arial"/>
            </a:endParaRPr>
          </a:p>
        </p:txBody>
      </p:sp>
      <p:sp>
        <p:nvSpPr>
          <p:cNvPr id="182" name="Text 11"/>
          <p:cNvSpPr/>
          <p:nvPr/>
        </p:nvSpPr>
        <p:spPr>
          <a:xfrm>
            <a:off x="3675960" y="1938600"/>
            <a:ext cx="54828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chemeClr val="accent1"/>
                </a:solidFill>
                <a:latin typeface="Calibri"/>
              </a:rPr>
              <a:t>▲ </a:t>
            </a:r>
            <a:r>
              <a:rPr b="1" lang="en-US" sz="1300" spc="-1" strike="noStrike">
                <a:solidFill>
                  <a:schemeClr val="accent1"/>
                </a:solidFill>
                <a:latin typeface="Calibri"/>
              </a:rPr>
              <a:t>j</a:t>
            </a:r>
            <a:endParaRPr b="0" lang="en-IN" sz="1300" spc="-1" strike="noStrike">
              <a:solidFill>
                <a:srgbClr val="000000"/>
              </a:solidFill>
              <a:latin typeface="Arial"/>
            </a:endParaRPr>
          </a:p>
        </p:txBody>
      </p:sp>
      <p:sp>
        <p:nvSpPr>
          <p:cNvPr id="183" name="Text 12"/>
          <p:cNvSpPr/>
          <p:nvPr/>
        </p:nvSpPr>
        <p:spPr>
          <a:xfrm>
            <a:off x="548640" y="2331720"/>
            <a:ext cx="411444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500" spc="-1" strike="noStrike">
                <a:solidFill>
                  <a:schemeClr val="accent1"/>
                </a:solidFill>
                <a:latin typeface="Calibri"/>
              </a:rPr>
              <a:t>27 &lt; 82, so 27 goes next</a:t>
            </a:r>
            <a:endParaRPr b="0" lang="en-IN" sz="1500" spc="-1" strike="noStrike">
              <a:solidFill>
                <a:srgbClr val="000000"/>
              </a:solidFill>
              <a:latin typeface="Arial"/>
            </a:endParaRPr>
          </a:p>
        </p:txBody>
      </p:sp>
      <p:sp>
        <p:nvSpPr>
          <p:cNvPr id="184" name="Text 13"/>
          <p:cNvSpPr/>
          <p:nvPr/>
        </p:nvSpPr>
        <p:spPr>
          <a:xfrm>
            <a:off x="548640" y="2880360"/>
            <a:ext cx="18284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chemeClr val="dk2"/>
                </a:solidFill>
                <a:latin typeface="Calibri"/>
              </a:rPr>
              <a:t>Output so far</a:t>
            </a:r>
            <a:endParaRPr b="0" lang="en-IN" sz="1300" spc="-1" strike="noStrike">
              <a:solidFill>
                <a:srgbClr val="000000"/>
              </a:solidFill>
              <a:latin typeface="Arial"/>
            </a:endParaRPr>
          </a:p>
        </p:txBody>
      </p:sp>
      <p:sp>
        <p:nvSpPr>
          <p:cNvPr id="185" name="cell 3"/>
          <p:cNvSpPr/>
          <p:nvPr/>
        </p:nvSpPr>
        <p:spPr>
          <a:xfrm>
            <a:off x="548640" y="3173040"/>
            <a:ext cx="420120" cy="420120"/>
          </a:xfrm>
          <a:prstGeom prst="roundRect">
            <a:avLst>
              <a:gd name="adj" fmla="val 17391"/>
            </a:avLst>
          </a:prstGeom>
          <a:solidFill>
            <a:srgbClr val="1fa99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3</a:t>
            </a:r>
            <a:endParaRPr b="0" lang="en-IN" sz="1400" spc="-1" strike="noStrike">
              <a:solidFill>
                <a:srgbClr val="ffffff"/>
              </a:solidFill>
              <a:latin typeface="Arial"/>
            </a:endParaRPr>
          </a:p>
        </p:txBody>
      </p:sp>
      <p:sp>
        <p:nvSpPr>
          <p:cNvPr id="186" name="cell 9"/>
          <p:cNvSpPr/>
          <p:nvPr/>
        </p:nvSpPr>
        <p:spPr>
          <a:xfrm>
            <a:off x="1014840" y="3173040"/>
            <a:ext cx="420120" cy="420120"/>
          </a:xfrm>
          <a:prstGeom prst="roundRect">
            <a:avLst>
              <a:gd name="adj" fmla="val 17391"/>
            </a:avLst>
          </a:prstGeom>
          <a:solidFill>
            <a:srgbClr val="1fa99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9</a:t>
            </a:r>
            <a:endParaRPr b="0" lang="en-IN" sz="1400" spc="-1" strike="noStrike">
              <a:solidFill>
                <a:srgbClr val="ffffff"/>
              </a:solidFill>
              <a:latin typeface="Arial"/>
            </a:endParaRPr>
          </a:p>
        </p:txBody>
      </p:sp>
      <p:sp>
        <p:nvSpPr>
          <p:cNvPr id="187" name="cell 10"/>
          <p:cNvSpPr/>
          <p:nvPr/>
        </p:nvSpPr>
        <p:spPr>
          <a:xfrm>
            <a:off x="1481400" y="3173040"/>
            <a:ext cx="420120" cy="420120"/>
          </a:xfrm>
          <a:prstGeom prst="roundRect">
            <a:avLst>
              <a:gd name="adj" fmla="val 17391"/>
            </a:avLst>
          </a:prstGeom>
          <a:solidFill>
            <a:srgbClr val="1fa99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10</a:t>
            </a:r>
            <a:endParaRPr b="0" lang="en-IN" sz="1400" spc="-1" strike="noStrike">
              <a:solidFill>
                <a:srgbClr val="ffffff"/>
              </a:solidFill>
              <a:latin typeface="Arial"/>
            </a:endParaRPr>
          </a:p>
        </p:txBody>
      </p:sp>
      <p:sp>
        <p:nvSpPr>
          <p:cNvPr id="188" name="cell 27"/>
          <p:cNvSpPr/>
          <p:nvPr/>
        </p:nvSpPr>
        <p:spPr>
          <a:xfrm>
            <a:off x="1947600" y="3173040"/>
            <a:ext cx="420120" cy="420120"/>
          </a:xfrm>
          <a:prstGeom prst="roundRect">
            <a:avLst>
              <a:gd name="adj" fmla="val 17391"/>
            </a:avLst>
          </a:prstGeom>
          <a:solidFill>
            <a:srgbClr val="ff6b5b"/>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27</a:t>
            </a:r>
            <a:endParaRPr b="0" lang="en-IN" sz="1400" spc="-1" strike="noStrike">
              <a:solidFill>
                <a:srgbClr val="ffffff"/>
              </a:solidFill>
              <a:latin typeface="Arial"/>
            </a:endParaRPr>
          </a:p>
        </p:txBody>
      </p:sp>
      <p:sp>
        <p:nvSpPr>
          <p:cNvPr id="189" name="Shape 18"/>
          <p:cNvSpPr/>
          <p:nvPr/>
        </p:nvSpPr>
        <p:spPr>
          <a:xfrm>
            <a:off x="2414160" y="3173040"/>
            <a:ext cx="420120" cy="420120"/>
          </a:xfrm>
          <a:prstGeom prst="roundRect">
            <a:avLst>
              <a:gd name="adj" fmla="val 17391"/>
            </a:avLst>
          </a:prstGeom>
          <a:solidFill>
            <a:srgbClr val="ffffff"/>
          </a:solidFill>
          <a:ln w="15875">
            <a:solidFill>
              <a:srgbClr val="d9d6ea"/>
            </a:solidFill>
            <a:prstDash val="dash"/>
            <a:round/>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90" name="Shape 19"/>
          <p:cNvSpPr/>
          <p:nvPr/>
        </p:nvSpPr>
        <p:spPr>
          <a:xfrm>
            <a:off x="2880360" y="3173040"/>
            <a:ext cx="420120" cy="420120"/>
          </a:xfrm>
          <a:prstGeom prst="roundRect">
            <a:avLst>
              <a:gd name="adj" fmla="val 17391"/>
            </a:avLst>
          </a:prstGeom>
          <a:solidFill>
            <a:srgbClr val="ffffff"/>
          </a:solidFill>
          <a:ln w="15875">
            <a:solidFill>
              <a:srgbClr val="d9d6ea"/>
            </a:solidFill>
            <a:prstDash val="dash"/>
            <a:round/>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91" name="Shape 20"/>
          <p:cNvSpPr/>
          <p:nvPr/>
        </p:nvSpPr>
        <p:spPr>
          <a:xfrm>
            <a:off x="3346560" y="3173040"/>
            <a:ext cx="420120" cy="420120"/>
          </a:xfrm>
          <a:prstGeom prst="roundRect">
            <a:avLst>
              <a:gd name="adj" fmla="val 17391"/>
            </a:avLst>
          </a:prstGeom>
          <a:solidFill>
            <a:srgbClr val="ffffff"/>
          </a:solidFill>
          <a:ln w="15875">
            <a:solidFill>
              <a:srgbClr val="d9d6ea"/>
            </a:solidFill>
            <a:prstDash val="dash"/>
            <a:round/>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92" name="Shape 21"/>
          <p:cNvSpPr/>
          <p:nvPr/>
        </p:nvSpPr>
        <p:spPr>
          <a:xfrm>
            <a:off x="5120640" y="1188720"/>
            <a:ext cx="3474360" cy="3200040"/>
          </a:xfrm>
          <a:prstGeom prst="roundRect">
            <a:avLst>
              <a:gd name="adj" fmla="val 3429"/>
            </a:avLst>
          </a:prstGeom>
          <a:solidFill>
            <a:srgbClr val="f3f2f8"/>
          </a:solidFill>
          <a:ln w="12700">
            <a:solidFill>
              <a:srgbClr val="f3f2f8"/>
            </a:solidFill>
            <a:round/>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93" name="Text 22"/>
          <p:cNvSpPr/>
          <p:nvPr/>
        </p:nvSpPr>
        <p:spPr>
          <a:xfrm>
            <a:off x="5394960" y="1371600"/>
            <a:ext cx="301716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800" spc="-1" strike="noStrike">
                <a:solidFill>
                  <a:schemeClr val="dk1"/>
                </a:solidFill>
                <a:latin typeface="Cambria"/>
                <a:ea typeface="Cambria"/>
              </a:rPr>
              <a:t>The rules</a:t>
            </a:r>
            <a:endParaRPr b="0" lang="en-IN" sz="1800" spc="-1" strike="noStrike">
              <a:solidFill>
                <a:srgbClr val="000000"/>
              </a:solidFill>
              <a:latin typeface="Arial"/>
            </a:endParaRPr>
          </a:p>
        </p:txBody>
      </p:sp>
      <p:sp>
        <p:nvSpPr>
          <p:cNvPr id="194" name="Text 23"/>
          <p:cNvSpPr/>
          <p:nvPr/>
        </p:nvSpPr>
        <p:spPr>
          <a:xfrm>
            <a:off x="5394960" y="1828800"/>
            <a:ext cx="3017160" cy="246852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601"/>
              </a:spcAft>
              <a:buClr>
                <a:srgbClr val="1c1a33"/>
              </a:buClr>
              <a:buFont typeface="Cambria"/>
              <a:buAutoNum type="arabicPeriod"/>
            </a:pPr>
            <a:r>
              <a:rPr b="0" lang="en-US" sz="1400" spc="-1" strike="noStrike">
                <a:solidFill>
                  <a:schemeClr val="dk1"/>
                </a:solidFill>
                <a:latin typeface="Calibri"/>
              </a:rPr>
              <a:t>Point at the front of each half</a:t>
            </a:r>
            <a:endParaRPr b="0" lang="en-IN" sz="1400" spc="-1" strike="noStrike">
              <a:solidFill>
                <a:srgbClr val="000000"/>
              </a:solidFill>
              <a:latin typeface="Arial"/>
            </a:endParaRPr>
          </a:p>
          <a:p>
            <a:pPr marL="343080" indent="-343080" defTabSz="914400">
              <a:lnSpc>
                <a:spcPct val="100000"/>
              </a:lnSpc>
              <a:spcAft>
                <a:spcPts val="601"/>
              </a:spcAft>
              <a:buClr>
                <a:srgbClr val="1c1a33"/>
              </a:buClr>
              <a:buFont typeface="Cambria"/>
              <a:buAutoNum type="arabicPeriod"/>
            </a:pPr>
            <a:r>
              <a:rPr b="0" lang="en-US" sz="1400" spc="-1" strike="noStrike">
                <a:solidFill>
                  <a:schemeClr val="dk1"/>
                </a:solidFill>
                <a:latin typeface="Calibri"/>
              </a:rPr>
              <a:t>Copy the smaller value to the output and move that pointer</a:t>
            </a:r>
            <a:endParaRPr b="0" lang="en-IN" sz="1400" spc="-1" strike="noStrike">
              <a:solidFill>
                <a:srgbClr val="000000"/>
              </a:solidFill>
              <a:latin typeface="Arial"/>
            </a:endParaRPr>
          </a:p>
          <a:p>
            <a:pPr marL="343080" indent="-343080" defTabSz="914400">
              <a:lnSpc>
                <a:spcPct val="100000"/>
              </a:lnSpc>
              <a:spcAft>
                <a:spcPts val="601"/>
              </a:spcAft>
              <a:buClr>
                <a:srgbClr val="1c1a33"/>
              </a:buClr>
              <a:buFont typeface="Cambria"/>
              <a:buAutoNum type="arabicPeriod"/>
            </a:pPr>
            <a:r>
              <a:rPr b="0" lang="en-US" sz="1400" spc="-1" strike="noStrike">
                <a:solidFill>
                  <a:schemeClr val="dk1"/>
                </a:solidFill>
                <a:latin typeface="Calibri"/>
              </a:rPr>
              <a:t>When one half runs out, copy the rest of the other</a:t>
            </a:r>
            <a:endParaRPr b="0" lang="en-IN" sz="1400" spc="-1" strike="noStrike">
              <a:solidFill>
                <a:srgbClr val="000000"/>
              </a:solidFill>
              <a:latin typeface="Arial"/>
            </a:endParaRPr>
          </a:p>
          <a:p>
            <a:pPr marL="343080" indent="-343080" defTabSz="914400">
              <a:lnSpc>
                <a:spcPct val="100000"/>
              </a:lnSpc>
              <a:buClr>
                <a:srgbClr val="1c1a33"/>
              </a:buClr>
              <a:buFont typeface="Cambria"/>
              <a:buAutoNum type="arabicPeriod"/>
            </a:pPr>
            <a:r>
              <a:rPr b="0" lang="en-US" sz="1400" spc="-1" strike="noStrike">
                <a:solidFill>
                  <a:schemeClr val="dk1"/>
                </a:solidFill>
                <a:latin typeface="Calibri"/>
              </a:rPr>
              <a:t>On a tie, take from the left — this keeps the sort stable</a:t>
            </a:r>
            <a:endParaRPr b="0" lang="en-IN" sz="1400" spc="-1" strike="noStrike">
              <a:solidFill>
                <a:srgbClr val="000000"/>
              </a:solidFill>
              <a:latin typeface="Arial"/>
            </a:endParaRPr>
          </a:p>
        </p:txBody>
      </p:sp>
      <p:sp>
        <p:nvSpPr>
          <p:cNvPr id="195" name="PlaceHolder 2"/>
          <p:cNvSpPr>
            <a:spLocks noGrp="1"/>
          </p:cNvSpPr>
          <p:nvPr>
            <p:ph type="sldNum" idx="10"/>
          </p:nvPr>
        </p:nvSpPr>
        <p:spPr>
          <a:xfrm>
            <a:off x="8321040" y="4754880"/>
            <a:ext cx="456840" cy="27396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chemeClr val="dk2"/>
                </a:solidFill>
                <a:latin typeface="Calibri"/>
              </a:defRPr>
            </a:lvl1pPr>
          </a:lstStyle>
          <a:p>
            <a:pPr indent="0" algn="r" defTabSz="914400">
              <a:lnSpc>
                <a:spcPct val="100000"/>
              </a:lnSpc>
              <a:buNone/>
            </a:pPr>
            <a:fld id="{914EA631-B3DE-42A9-883C-5E19445CA4D2}" type="slidenum">
              <a:rPr b="0" lang="en-US" sz="1000" spc="-1" strike="noStrike">
                <a:solidFill>
                  <a:schemeClr val="dk2"/>
                </a:solidFill>
                <a:latin typeface="Calibri"/>
              </a:rPr>
              <a:t>&lt;number&gt;</a:t>
            </a:fld>
            <a:endParaRPr b="0" lang="en-IN"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548640" y="320040"/>
            <a:ext cx="8046360" cy="639720"/>
          </a:xfrm>
          <a:prstGeom prst="rect">
            <a:avLst/>
          </a:prstGeom>
          <a:noFill/>
          <a:ln w="0">
            <a:noFill/>
          </a:ln>
        </p:spPr>
        <p:txBody>
          <a:bodyPr lIns="0" rIns="0" tIns="0" bIns="0" anchor="ctr">
            <a:noAutofit/>
          </a:bodyPr>
          <a:p>
            <a:pPr indent="0" algn="ctr" defTabSz="914400">
              <a:lnSpc>
                <a:spcPct val="100000"/>
              </a:lnSpc>
              <a:buNone/>
              <a:tabLst>
                <a:tab algn="l" pos="0"/>
              </a:tabLst>
            </a:pPr>
            <a:r>
              <a:rPr b="1" lang="en-US" sz="3200" spc="-1" strike="noStrike">
                <a:solidFill>
                  <a:schemeClr val="dk1"/>
                </a:solidFill>
                <a:latin typeface="Cambria"/>
              </a:rPr>
              <a:t>Why it runs in O(n log n)</a:t>
            </a:r>
            <a:endParaRPr b="0" lang="en-IN" sz="3200" spc="-1" strike="noStrike">
              <a:solidFill>
                <a:schemeClr val="dk1"/>
              </a:solidFill>
              <a:latin typeface="Calibri"/>
            </a:endParaRPr>
          </a:p>
        </p:txBody>
      </p:sp>
      <p:sp>
        <p:nvSpPr>
          <p:cNvPr id="197" name="Text 1"/>
          <p:cNvSpPr/>
          <p:nvPr/>
        </p:nvSpPr>
        <p:spPr>
          <a:xfrm>
            <a:off x="548640" y="1188720"/>
            <a:ext cx="3657240" cy="159984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799"/>
              </a:spcAft>
              <a:tabLst>
                <a:tab algn="l" pos="0"/>
              </a:tabLst>
            </a:pPr>
            <a:r>
              <a:rPr b="0" lang="en-US" sz="1500" spc="-1" strike="noStrike">
                <a:solidFill>
                  <a:schemeClr val="dk1"/>
                </a:solidFill>
                <a:latin typeface="Calibri"/>
              </a:rPr>
              <a:t>Halving gives about log₂ n levels of splits.</a:t>
            </a:r>
            <a:endParaRPr b="0" lang="en-IN" sz="1500" spc="-1" strike="noStrike">
              <a:solidFill>
                <a:srgbClr val="000000"/>
              </a:solidFill>
              <a:latin typeface="Arial"/>
            </a:endParaRPr>
          </a:p>
          <a:p>
            <a:pPr defTabSz="914400">
              <a:lnSpc>
                <a:spcPct val="100000"/>
              </a:lnSpc>
              <a:spcAft>
                <a:spcPts val="799"/>
              </a:spcAft>
              <a:tabLst>
                <a:tab algn="l" pos="0"/>
              </a:tabLst>
            </a:pPr>
            <a:r>
              <a:rPr b="0" lang="en-US" sz="1500" spc="-1" strike="noStrike">
                <a:solidFill>
                  <a:schemeClr val="dk1"/>
                </a:solidFill>
                <a:latin typeface="Calibri"/>
              </a:rPr>
              <a:t>Every level merges all n elements once: O(n) work per level.</a:t>
            </a:r>
            <a:endParaRPr b="0" lang="en-IN" sz="1500" spc="-1" strike="noStrike">
              <a:solidFill>
                <a:srgbClr val="000000"/>
              </a:solidFill>
              <a:latin typeface="Arial"/>
            </a:endParaRPr>
          </a:p>
          <a:p>
            <a:pPr defTabSz="914400">
              <a:lnSpc>
                <a:spcPct val="100000"/>
              </a:lnSpc>
              <a:tabLst>
                <a:tab algn="l" pos="0"/>
              </a:tabLst>
            </a:pPr>
            <a:r>
              <a:rPr b="1" lang="en-US" sz="1500" spc="-1" strike="noStrike">
                <a:solidFill>
                  <a:schemeClr val="accent1"/>
                </a:solidFill>
                <a:latin typeface="Calibri"/>
              </a:rPr>
              <a:t>T(n) = 2T(n/2) + n  →  O(n log n)</a:t>
            </a:r>
            <a:endParaRPr b="0" lang="en-IN" sz="1500" spc="-1" strike="noStrike">
              <a:solidFill>
                <a:srgbClr val="000000"/>
              </a:solidFill>
              <a:latin typeface="Arial"/>
            </a:endParaRPr>
          </a:p>
        </p:txBody>
      </p:sp>
      <p:sp>
        <p:nvSpPr>
          <p:cNvPr id="198" name="Shape 2"/>
          <p:cNvSpPr/>
          <p:nvPr/>
        </p:nvSpPr>
        <p:spPr>
          <a:xfrm>
            <a:off x="548640" y="2926080"/>
            <a:ext cx="1737000" cy="658080"/>
          </a:xfrm>
          <a:prstGeom prst="roundRect">
            <a:avLst>
              <a:gd name="adj" fmla="val 13889"/>
            </a:avLst>
          </a:prstGeom>
          <a:solidFill>
            <a:srgbClr val="f3f2f8"/>
          </a:solidFill>
          <a:ln w="12700">
            <a:solidFill>
              <a:srgbClr val="f3f2f8"/>
            </a:solidFill>
            <a:round/>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99" name="Text 3"/>
          <p:cNvSpPr/>
          <p:nvPr/>
        </p:nvSpPr>
        <p:spPr>
          <a:xfrm>
            <a:off x="685800" y="2990160"/>
            <a:ext cx="146268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chemeClr val="dk2"/>
                </a:solidFill>
                <a:latin typeface="Calibri"/>
              </a:rPr>
              <a:t>Best</a:t>
            </a:r>
            <a:endParaRPr b="0" lang="en-IN" sz="1100" spc="-1" strike="noStrike">
              <a:solidFill>
                <a:srgbClr val="000000"/>
              </a:solidFill>
              <a:latin typeface="Arial"/>
            </a:endParaRPr>
          </a:p>
        </p:txBody>
      </p:sp>
      <p:sp>
        <p:nvSpPr>
          <p:cNvPr id="200" name="Text 4"/>
          <p:cNvSpPr/>
          <p:nvPr/>
        </p:nvSpPr>
        <p:spPr>
          <a:xfrm>
            <a:off x="685800" y="3218760"/>
            <a:ext cx="14626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00" spc="-1" strike="noStrike">
                <a:solidFill>
                  <a:schemeClr val="dk1"/>
                </a:solidFill>
                <a:latin typeface="Calibri"/>
              </a:rPr>
              <a:t>O(n log n)</a:t>
            </a:r>
            <a:endParaRPr b="0" lang="en-IN" sz="1600" spc="-1" strike="noStrike">
              <a:solidFill>
                <a:srgbClr val="000000"/>
              </a:solidFill>
              <a:latin typeface="Arial"/>
            </a:endParaRPr>
          </a:p>
        </p:txBody>
      </p:sp>
      <p:sp>
        <p:nvSpPr>
          <p:cNvPr id="201" name="Shape 5"/>
          <p:cNvSpPr/>
          <p:nvPr/>
        </p:nvSpPr>
        <p:spPr>
          <a:xfrm>
            <a:off x="2423160" y="2926080"/>
            <a:ext cx="1737000" cy="658080"/>
          </a:xfrm>
          <a:prstGeom prst="roundRect">
            <a:avLst>
              <a:gd name="adj" fmla="val 13889"/>
            </a:avLst>
          </a:prstGeom>
          <a:solidFill>
            <a:srgbClr val="f3f2f8"/>
          </a:solidFill>
          <a:ln w="12700">
            <a:solidFill>
              <a:srgbClr val="f3f2f8"/>
            </a:solidFill>
            <a:round/>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02" name="Text 6"/>
          <p:cNvSpPr/>
          <p:nvPr/>
        </p:nvSpPr>
        <p:spPr>
          <a:xfrm>
            <a:off x="2560320" y="2990160"/>
            <a:ext cx="146268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chemeClr val="dk2"/>
                </a:solidFill>
                <a:latin typeface="Calibri"/>
              </a:rPr>
              <a:t>Average</a:t>
            </a:r>
            <a:endParaRPr b="0" lang="en-IN" sz="1100" spc="-1" strike="noStrike">
              <a:solidFill>
                <a:srgbClr val="000000"/>
              </a:solidFill>
              <a:latin typeface="Arial"/>
            </a:endParaRPr>
          </a:p>
        </p:txBody>
      </p:sp>
      <p:sp>
        <p:nvSpPr>
          <p:cNvPr id="203" name="Text 7"/>
          <p:cNvSpPr/>
          <p:nvPr/>
        </p:nvSpPr>
        <p:spPr>
          <a:xfrm>
            <a:off x="2560320" y="3218760"/>
            <a:ext cx="14626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00" spc="-1" strike="noStrike">
                <a:solidFill>
                  <a:schemeClr val="dk1"/>
                </a:solidFill>
                <a:latin typeface="Calibri"/>
              </a:rPr>
              <a:t>O(n log n)</a:t>
            </a:r>
            <a:endParaRPr b="0" lang="en-IN" sz="1600" spc="-1" strike="noStrike">
              <a:solidFill>
                <a:srgbClr val="000000"/>
              </a:solidFill>
              <a:latin typeface="Arial"/>
            </a:endParaRPr>
          </a:p>
        </p:txBody>
      </p:sp>
      <p:sp>
        <p:nvSpPr>
          <p:cNvPr id="204" name="Shape 8"/>
          <p:cNvSpPr/>
          <p:nvPr/>
        </p:nvSpPr>
        <p:spPr>
          <a:xfrm>
            <a:off x="548640" y="3703320"/>
            <a:ext cx="1737000" cy="658080"/>
          </a:xfrm>
          <a:prstGeom prst="roundRect">
            <a:avLst>
              <a:gd name="adj" fmla="val 13889"/>
            </a:avLst>
          </a:prstGeom>
          <a:solidFill>
            <a:srgbClr val="f3f2f8"/>
          </a:solidFill>
          <a:ln w="12700">
            <a:solidFill>
              <a:srgbClr val="f3f2f8"/>
            </a:solidFill>
            <a:round/>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05" name="Text 9"/>
          <p:cNvSpPr/>
          <p:nvPr/>
        </p:nvSpPr>
        <p:spPr>
          <a:xfrm>
            <a:off x="685800" y="3767400"/>
            <a:ext cx="146268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chemeClr val="dk2"/>
                </a:solidFill>
                <a:latin typeface="Calibri"/>
              </a:rPr>
              <a:t>Worst</a:t>
            </a:r>
            <a:endParaRPr b="0" lang="en-IN" sz="1100" spc="-1" strike="noStrike">
              <a:solidFill>
                <a:srgbClr val="000000"/>
              </a:solidFill>
              <a:latin typeface="Arial"/>
            </a:endParaRPr>
          </a:p>
        </p:txBody>
      </p:sp>
      <p:sp>
        <p:nvSpPr>
          <p:cNvPr id="206" name="Text 10"/>
          <p:cNvSpPr/>
          <p:nvPr/>
        </p:nvSpPr>
        <p:spPr>
          <a:xfrm>
            <a:off x="685800" y="3996000"/>
            <a:ext cx="14626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00" spc="-1" strike="noStrike">
                <a:solidFill>
                  <a:schemeClr val="dk1"/>
                </a:solidFill>
                <a:latin typeface="Calibri"/>
              </a:rPr>
              <a:t>O(n log n)</a:t>
            </a:r>
            <a:endParaRPr b="0" lang="en-IN" sz="1600" spc="-1" strike="noStrike">
              <a:solidFill>
                <a:srgbClr val="000000"/>
              </a:solidFill>
              <a:latin typeface="Arial"/>
            </a:endParaRPr>
          </a:p>
        </p:txBody>
      </p:sp>
      <p:sp>
        <p:nvSpPr>
          <p:cNvPr id="207" name="Shape 11"/>
          <p:cNvSpPr/>
          <p:nvPr/>
        </p:nvSpPr>
        <p:spPr>
          <a:xfrm>
            <a:off x="2423160" y="3703320"/>
            <a:ext cx="1737000" cy="658080"/>
          </a:xfrm>
          <a:prstGeom prst="roundRect">
            <a:avLst>
              <a:gd name="adj" fmla="val 13889"/>
            </a:avLst>
          </a:prstGeom>
          <a:solidFill>
            <a:srgbClr val="1c1a33"/>
          </a:solidFill>
          <a:ln w="12700">
            <a:solidFill>
              <a:srgbClr val="1c1a33"/>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208" name="Text 12"/>
          <p:cNvSpPr/>
          <p:nvPr/>
        </p:nvSpPr>
        <p:spPr>
          <a:xfrm>
            <a:off x="2560320" y="3767400"/>
            <a:ext cx="146268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chemeClr val="accent6"/>
                </a:solidFill>
                <a:latin typeface="Calibri"/>
              </a:rPr>
              <a:t>Extra space</a:t>
            </a:r>
            <a:endParaRPr b="0" lang="en-IN" sz="1100" spc="-1" strike="noStrike">
              <a:solidFill>
                <a:srgbClr val="000000"/>
              </a:solidFill>
              <a:latin typeface="Arial"/>
            </a:endParaRPr>
          </a:p>
        </p:txBody>
      </p:sp>
      <p:sp>
        <p:nvSpPr>
          <p:cNvPr id="209" name="Text 13"/>
          <p:cNvSpPr/>
          <p:nvPr/>
        </p:nvSpPr>
        <p:spPr>
          <a:xfrm>
            <a:off x="2560320" y="3996000"/>
            <a:ext cx="14626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00" spc="-1" strike="noStrike">
                <a:solidFill>
                  <a:schemeClr val="lt1"/>
                </a:solidFill>
                <a:latin typeface="Calibri"/>
              </a:rPr>
              <a:t>O(n)</a:t>
            </a:r>
            <a:endParaRPr b="0" lang="en-IN" sz="1600" spc="-1" strike="noStrike">
              <a:solidFill>
                <a:srgbClr val="000000"/>
              </a:solidFill>
              <a:latin typeface="Arial"/>
            </a:endParaRPr>
          </a:p>
        </p:txBody>
      </p:sp>
      <p:graphicFrame>
        <p:nvGraphicFramePr>
          <p:cNvPr id="210" name="Chart 0"/>
          <p:cNvGraphicFramePr/>
          <p:nvPr/>
        </p:nvGraphicFramePr>
        <p:xfrm>
          <a:off x="4480560" y="1143000"/>
          <a:ext cx="4205880" cy="3382920"/>
        </p:xfrm>
        <a:graphic>
          <a:graphicData uri="http://schemas.openxmlformats.org/drawingml/2006/chart">
            <c:chart xmlns:c="http://schemas.openxmlformats.org/drawingml/2006/chart" xmlns:r="http://schemas.openxmlformats.org/officeDocument/2006/relationships" r:id="rId1"/>
          </a:graphicData>
        </a:graphic>
      </p:graphicFrame>
      <p:sp>
        <p:nvSpPr>
          <p:cNvPr id="211" name="PlaceHolder 2"/>
          <p:cNvSpPr>
            <a:spLocks noGrp="1"/>
          </p:cNvSpPr>
          <p:nvPr>
            <p:ph type="sldNum" idx="11"/>
          </p:nvPr>
        </p:nvSpPr>
        <p:spPr>
          <a:xfrm>
            <a:off x="8321040" y="4754880"/>
            <a:ext cx="456840" cy="27396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chemeClr val="dk2"/>
                </a:solidFill>
                <a:latin typeface="Calibri"/>
              </a:defRPr>
            </a:lvl1pPr>
          </a:lstStyle>
          <a:p>
            <a:pPr indent="0" algn="r" defTabSz="914400">
              <a:lnSpc>
                <a:spcPct val="100000"/>
              </a:lnSpc>
              <a:buNone/>
            </a:pPr>
            <a:fld id="{DFEC0517-C131-4E04-A555-78BAD416C76C}" type="slidenum">
              <a:rPr b="0" lang="en-US" sz="1000" spc="-1" strike="noStrike">
                <a:solidFill>
                  <a:schemeClr val="dk2"/>
                </a:solidFill>
                <a:latin typeface="Calibri"/>
              </a:rPr>
              <a:t>&lt;number&gt;</a:t>
            </a:fld>
            <a:endParaRPr b="0" lang="en-IN"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548640" y="320040"/>
            <a:ext cx="8046360" cy="639720"/>
          </a:xfrm>
          <a:prstGeom prst="rect">
            <a:avLst/>
          </a:prstGeom>
          <a:noFill/>
          <a:ln w="0">
            <a:noFill/>
          </a:ln>
        </p:spPr>
        <p:txBody>
          <a:bodyPr lIns="0" rIns="0" tIns="0" bIns="0" anchor="ctr">
            <a:noAutofit/>
          </a:bodyPr>
          <a:p>
            <a:pPr indent="0" algn="ctr" defTabSz="914400">
              <a:lnSpc>
                <a:spcPct val="100000"/>
              </a:lnSpc>
              <a:buNone/>
              <a:tabLst>
                <a:tab algn="l" pos="0"/>
              </a:tabLst>
            </a:pPr>
            <a:r>
              <a:rPr b="1" lang="en-US" sz="3200" spc="-1" strike="noStrike">
                <a:solidFill>
                  <a:schemeClr val="dk1"/>
                </a:solidFill>
                <a:latin typeface="Cambria"/>
              </a:rPr>
              <a:t>Strengths and trade-offs</a:t>
            </a:r>
            <a:endParaRPr b="0" lang="en-IN" sz="3200" spc="-1" strike="noStrike">
              <a:solidFill>
                <a:schemeClr val="dk1"/>
              </a:solidFill>
              <a:latin typeface="Calibri"/>
            </a:endParaRPr>
          </a:p>
        </p:txBody>
      </p:sp>
      <p:sp>
        <p:nvSpPr>
          <p:cNvPr id="213" name="Shape 1"/>
          <p:cNvSpPr/>
          <p:nvPr/>
        </p:nvSpPr>
        <p:spPr>
          <a:xfrm>
            <a:off x="548640" y="1188720"/>
            <a:ext cx="3931560" cy="3291480"/>
          </a:xfrm>
          <a:prstGeom prst="roundRect">
            <a:avLst>
              <a:gd name="adj" fmla="val 3333"/>
            </a:avLst>
          </a:prstGeom>
          <a:solidFill>
            <a:srgbClr val="f3f2f8"/>
          </a:solidFill>
          <a:ln w="12700">
            <a:solidFill>
              <a:srgbClr val="f3f2f8"/>
            </a:solidFill>
            <a:round/>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14" name="Shape 2"/>
          <p:cNvSpPr/>
          <p:nvPr/>
        </p:nvSpPr>
        <p:spPr>
          <a:xfrm>
            <a:off x="822960" y="1371600"/>
            <a:ext cx="548280" cy="548280"/>
          </a:xfrm>
          <a:prstGeom prst="ellipse">
            <a:avLst/>
          </a:prstGeom>
          <a:solidFill>
            <a:srgbClr val="1fa99b"/>
          </a:solidFill>
          <a:ln w="12700">
            <a:solidFill>
              <a:srgbClr val="1fa99b"/>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pic>
        <p:nvPicPr>
          <p:cNvPr id="215" name="Image 0" descr="preencoded.png"/>
          <p:cNvPicPr/>
          <p:nvPr/>
        </p:nvPicPr>
        <p:blipFill>
          <a:blip r:embed="rId1"/>
          <a:stretch/>
        </p:blipFill>
        <p:spPr>
          <a:xfrm>
            <a:off x="965520" y="1514160"/>
            <a:ext cx="263160" cy="263160"/>
          </a:xfrm>
          <a:prstGeom prst="rect">
            <a:avLst/>
          </a:prstGeom>
          <a:ln w="0">
            <a:noFill/>
          </a:ln>
        </p:spPr>
      </p:pic>
      <p:sp>
        <p:nvSpPr>
          <p:cNvPr id="216" name="Text 3"/>
          <p:cNvSpPr/>
          <p:nvPr/>
        </p:nvSpPr>
        <p:spPr>
          <a:xfrm>
            <a:off x="1508760" y="1371600"/>
            <a:ext cx="27428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pc="-1" strike="noStrike">
                <a:solidFill>
                  <a:schemeClr val="dk1"/>
                </a:solidFill>
                <a:latin typeface="Cambria"/>
                <a:ea typeface="Cambria"/>
              </a:rPr>
              <a:t>Strengths</a:t>
            </a:r>
            <a:endParaRPr b="0" lang="en-IN" sz="2000" spc="-1" strike="noStrike">
              <a:solidFill>
                <a:srgbClr val="000000"/>
              </a:solidFill>
              <a:latin typeface="Arial"/>
            </a:endParaRPr>
          </a:p>
        </p:txBody>
      </p:sp>
      <p:sp>
        <p:nvSpPr>
          <p:cNvPr id="217" name="Text 4"/>
          <p:cNvSpPr/>
          <p:nvPr/>
        </p:nvSpPr>
        <p:spPr>
          <a:xfrm>
            <a:off x="822960" y="2148840"/>
            <a:ext cx="3428640" cy="21942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799"/>
              </a:spcAft>
              <a:buClr>
                <a:srgbClr val="1c1a33"/>
              </a:buClr>
              <a:buFont typeface="Symbol" charset="2"/>
              <a:buChar char=""/>
            </a:pPr>
            <a:r>
              <a:rPr b="0" lang="en-US" sz="1500" spc="-1" strike="noStrike">
                <a:solidFill>
                  <a:schemeClr val="dk1"/>
                </a:solidFill>
                <a:latin typeface="Calibri"/>
              </a:rPr>
              <a:t>Guaranteed O(n log n), even on bad input</a:t>
            </a:r>
            <a:endParaRPr b="0" lang="en-IN" sz="1500" spc="-1" strike="noStrike">
              <a:solidFill>
                <a:srgbClr val="000000"/>
              </a:solidFill>
              <a:latin typeface="Arial"/>
            </a:endParaRPr>
          </a:p>
          <a:p>
            <a:pPr marL="343080" indent="-343080" defTabSz="914400">
              <a:lnSpc>
                <a:spcPct val="100000"/>
              </a:lnSpc>
              <a:spcAft>
                <a:spcPts val="799"/>
              </a:spcAft>
              <a:buClr>
                <a:srgbClr val="1c1a33"/>
              </a:buClr>
              <a:buFont typeface="Symbol" charset="2"/>
              <a:buChar char=""/>
            </a:pPr>
            <a:r>
              <a:rPr b="0" lang="en-US" sz="1500" spc="-1" strike="noStrike">
                <a:solidFill>
                  <a:schemeClr val="dk1"/>
                </a:solidFill>
                <a:latin typeface="Calibri"/>
              </a:rPr>
              <a:t>Stable: equal values keep their order</a:t>
            </a:r>
            <a:endParaRPr b="0" lang="en-IN" sz="1500" spc="-1" strike="noStrike">
              <a:solidFill>
                <a:srgbClr val="000000"/>
              </a:solidFill>
              <a:latin typeface="Arial"/>
            </a:endParaRPr>
          </a:p>
          <a:p>
            <a:pPr marL="343080" indent="-343080" defTabSz="914400">
              <a:lnSpc>
                <a:spcPct val="100000"/>
              </a:lnSpc>
              <a:spcAft>
                <a:spcPts val="799"/>
              </a:spcAft>
              <a:buClr>
                <a:srgbClr val="1c1a33"/>
              </a:buClr>
              <a:buFont typeface="Symbol" charset="2"/>
              <a:buChar char=""/>
            </a:pPr>
            <a:r>
              <a:rPr b="0" lang="en-US" sz="1500" spc="-1" strike="noStrike">
                <a:solidFill>
                  <a:schemeClr val="dk1"/>
                </a:solidFill>
                <a:latin typeface="Calibri"/>
              </a:rPr>
              <a:t>Halves can be sorted in parallel</a:t>
            </a:r>
            <a:endParaRPr b="0" lang="en-IN" sz="1500" spc="-1" strike="noStrike">
              <a:solidFill>
                <a:srgbClr val="000000"/>
              </a:solidFill>
              <a:latin typeface="Arial"/>
            </a:endParaRPr>
          </a:p>
          <a:p>
            <a:pPr marL="343080" indent="-343080" defTabSz="914400">
              <a:lnSpc>
                <a:spcPct val="100000"/>
              </a:lnSpc>
              <a:spcAft>
                <a:spcPts val="799"/>
              </a:spcAft>
              <a:buClr>
                <a:srgbClr val="1c1a33"/>
              </a:buClr>
              <a:buFont typeface="Symbol" charset="2"/>
              <a:buChar char=""/>
            </a:pPr>
            <a:r>
              <a:rPr b="0" lang="en-US" sz="1500" spc="-1" strike="noStrike">
                <a:solidFill>
                  <a:schemeClr val="dk1"/>
                </a:solidFill>
                <a:latin typeface="Calibri"/>
              </a:rPr>
              <a:t>Ideal for linked lists and huge files on disk</a:t>
            </a:r>
            <a:endParaRPr b="0" lang="en-IN" sz="1500" spc="-1" strike="noStrike">
              <a:solidFill>
                <a:srgbClr val="000000"/>
              </a:solidFill>
              <a:latin typeface="Arial"/>
            </a:endParaRPr>
          </a:p>
        </p:txBody>
      </p:sp>
      <p:sp>
        <p:nvSpPr>
          <p:cNvPr id="218" name="Shape 5"/>
          <p:cNvSpPr/>
          <p:nvPr/>
        </p:nvSpPr>
        <p:spPr>
          <a:xfrm>
            <a:off x="4663440" y="1188720"/>
            <a:ext cx="3931560" cy="3291480"/>
          </a:xfrm>
          <a:prstGeom prst="roundRect">
            <a:avLst>
              <a:gd name="adj" fmla="val 3333"/>
            </a:avLst>
          </a:prstGeom>
          <a:solidFill>
            <a:srgbClr val="f3f2f8"/>
          </a:solidFill>
          <a:ln w="12700">
            <a:solidFill>
              <a:srgbClr val="f3f2f8"/>
            </a:solidFill>
            <a:round/>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19" name="Shape 6"/>
          <p:cNvSpPr/>
          <p:nvPr/>
        </p:nvSpPr>
        <p:spPr>
          <a:xfrm>
            <a:off x="4937760" y="1371600"/>
            <a:ext cx="548280" cy="548280"/>
          </a:xfrm>
          <a:prstGeom prst="ellipse">
            <a:avLst/>
          </a:prstGeom>
          <a:solidFill>
            <a:srgbClr val="ff6b5b"/>
          </a:solidFill>
          <a:ln w="12700">
            <a:solidFill>
              <a:srgbClr val="ff6b5b"/>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pic>
        <p:nvPicPr>
          <p:cNvPr id="220" name="Image 1" descr="preencoded.png"/>
          <p:cNvPicPr/>
          <p:nvPr/>
        </p:nvPicPr>
        <p:blipFill>
          <a:blip r:embed="rId2"/>
          <a:stretch/>
        </p:blipFill>
        <p:spPr>
          <a:xfrm>
            <a:off x="5080320" y="1514160"/>
            <a:ext cx="263160" cy="263160"/>
          </a:xfrm>
          <a:prstGeom prst="rect">
            <a:avLst/>
          </a:prstGeom>
          <a:ln w="0">
            <a:noFill/>
          </a:ln>
        </p:spPr>
      </p:pic>
      <p:sp>
        <p:nvSpPr>
          <p:cNvPr id="221" name="Text 7"/>
          <p:cNvSpPr/>
          <p:nvPr/>
        </p:nvSpPr>
        <p:spPr>
          <a:xfrm>
            <a:off x="5623560" y="1371600"/>
            <a:ext cx="27428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pc="-1" strike="noStrike">
                <a:solidFill>
                  <a:schemeClr val="dk1"/>
                </a:solidFill>
                <a:latin typeface="Cambria"/>
                <a:ea typeface="Cambria"/>
              </a:rPr>
              <a:t>Trade-offs</a:t>
            </a:r>
            <a:endParaRPr b="0" lang="en-IN" sz="2000" spc="-1" strike="noStrike">
              <a:solidFill>
                <a:srgbClr val="000000"/>
              </a:solidFill>
              <a:latin typeface="Arial"/>
            </a:endParaRPr>
          </a:p>
        </p:txBody>
      </p:sp>
      <p:sp>
        <p:nvSpPr>
          <p:cNvPr id="222" name="Text 8"/>
          <p:cNvSpPr/>
          <p:nvPr/>
        </p:nvSpPr>
        <p:spPr>
          <a:xfrm>
            <a:off x="4937760" y="2148840"/>
            <a:ext cx="3428640" cy="21942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799"/>
              </a:spcAft>
              <a:buClr>
                <a:srgbClr val="1c1a33"/>
              </a:buClr>
              <a:buFont typeface="Symbol" charset="2"/>
              <a:buChar char=""/>
            </a:pPr>
            <a:r>
              <a:rPr b="0" lang="en-US" sz="1500" spc="-1" strike="noStrike">
                <a:solidFill>
                  <a:schemeClr val="dk1"/>
                </a:solidFill>
                <a:latin typeface="Calibri"/>
              </a:rPr>
              <a:t>Needs O(n) extra memory for arrays</a:t>
            </a:r>
            <a:endParaRPr b="0" lang="en-IN" sz="1500" spc="-1" strike="noStrike">
              <a:solidFill>
                <a:srgbClr val="000000"/>
              </a:solidFill>
              <a:latin typeface="Arial"/>
            </a:endParaRPr>
          </a:p>
          <a:p>
            <a:pPr marL="343080" indent="-343080" defTabSz="914400">
              <a:lnSpc>
                <a:spcPct val="100000"/>
              </a:lnSpc>
              <a:spcAft>
                <a:spcPts val="799"/>
              </a:spcAft>
              <a:buClr>
                <a:srgbClr val="1c1a33"/>
              </a:buClr>
              <a:buFont typeface="Symbol" charset="2"/>
              <a:buChar char=""/>
            </a:pPr>
            <a:r>
              <a:rPr b="0" lang="en-US" sz="1500" spc="-1" strike="noStrike">
                <a:solidFill>
                  <a:schemeClr val="dk1"/>
                </a:solidFill>
                <a:latin typeface="Calibri"/>
              </a:rPr>
              <a:t>Not in-place, unlike quick sort or heap sort</a:t>
            </a:r>
            <a:endParaRPr b="0" lang="en-IN" sz="1500" spc="-1" strike="noStrike">
              <a:solidFill>
                <a:srgbClr val="000000"/>
              </a:solidFill>
              <a:latin typeface="Arial"/>
            </a:endParaRPr>
          </a:p>
          <a:p>
            <a:pPr marL="343080" indent="-343080" defTabSz="914400">
              <a:lnSpc>
                <a:spcPct val="100000"/>
              </a:lnSpc>
              <a:spcAft>
                <a:spcPts val="799"/>
              </a:spcAft>
              <a:buClr>
                <a:srgbClr val="1c1a33"/>
              </a:buClr>
              <a:buFont typeface="Symbol" charset="2"/>
              <a:buChar char=""/>
            </a:pPr>
            <a:r>
              <a:rPr b="0" lang="en-US" sz="1500" spc="-1" strike="noStrike">
                <a:solidFill>
                  <a:schemeClr val="dk1"/>
                </a:solidFill>
                <a:latin typeface="Calibri"/>
              </a:rPr>
              <a:t>Recursion and copying add overhead on tiny arrays</a:t>
            </a:r>
            <a:endParaRPr b="0" lang="en-IN" sz="1500" spc="-1" strike="noStrike">
              <a:solidFill>
                <a:srgbClr val="000000"/>
              </a:solidFill>
              <a:latin typeface="Arial"/>
            </a:endParaRPr>
          </a:p>
          <a:p>
            <a:pPr marL="343080" indent="-343080" defTabSz="914400">
              <a:lnSpc>
                <a:spcPct val="100000"/>
              </a:lnSpc>
              <a:spcAft>
                <a:spcPts val="799"/>
              </a:spcAft>
              <a:buClr>
                <a:srgbClr val="1c1a33"/>
              </a:buClr>
              <a:buFont typeface="Symbol" charset="2"/>
              <a:buChar char=""/>
            </a:pPr>
            <a:r>
              <a:rPr b="0" lang="en-US" sz="1500" spc="-1" strike="noStrike">
                <a:solidFill>
                  <a:schemeClr val="dk1"/>
                </a:solidFill>
                <a:latin typeface="Calibri"/>
              </a:rPr>
              <a:t>Often a bit slower than quick sort in practice</a:t>
            </a:r>
            <a:endParaRPr b="0" lang="en-IN" sz="1500" spc="-1" strike="noStrike">
              <a:solidFill>
                <a:srgbClr val="000000"/>
              </a:solidFill>
              <a:latin typeface="Arial"/>
            </a:endParaRPr>
          </a:p>
        </p:txBody>
      </p:sp>
      <p:sp>
        <p:nvSpPr>
          <p:cNvPr id="223" name="PlaceHolder 2"/>
          <p:cNvSpPr>
            <a:spLocks noGrp="1"/>
          </p:cNvSpPr>
          <p:nvPr>
            <p:ph type="sldNum" idx="12"/>
          </p:nvPr>
        </p:nvSpPr>
        <p:spPr>
          <a:xfrm>
            <a:off x="8321040" y="4754880"/>
            <a:ext cx="456840" cy="273960"/>
          </a:xfrm>
          <a:prstGeom prst="rect">
            <a:avLst/>
          </a:prstGeom>
          <a:noFill/>
          <a:ln w="0">
            <a:noFill/>
          </a:ln>
        </p:spPr>
        <p:txBody>
          <a:bodyPr lIns="90000" rIns="90000" tIns="45000" bIns="45000" anchor="t">
            <a:noAutofit/>
          </a:bodyPr>
          <a:lstStyle>
            <a:lvl1pPr indent="0" algn="r" defTabSz="914400">
              <a:lnSpc>
                <a:spcPct val="100000"/>
              </a:lnSpc>
              <a:buNone/>
              <a:defRPr b="0" lang="en-US" sz="1000" spc="-1" strike="noStrike">
                <a:solidFill>
                  <a:schemeClr val="dk2"/>
                </a:solidFill>
                <a:latin typeface="Calibri"/>
              </a:defRPr>
            </a:lvl1pPr>
          </a:lstStyle>
          <a:p>
            <a:pPr indent="0" algn="r" defTabSz="914400">
              <a:lnSpc>
                <a:spcPct val="100000"/>
              </a:lnSpc>
              <a:buNone/>
            </a:pPr>
            <a:fld id="{8E077BF7-A5BA-4542-8C53-68773A856222}" type="slidenum">
              <a:rPr b="0" lang="en-US" sz="1000" spc="-1" strike="noStrike">
                <a:solidFill>
                  <a:schemeClr val="dk2"/>
                </a:solidFill>
                <a:latin typeface="Calibri"/>
              </a:rPr>
              <a:t>&lt;number&gt;</a:t>
            </a:fld>
            <a:endParaRPr b="0" lang="en-IN"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548640" y="411480"/>
            <a:ext cx="8046360" cy="731160"/>
          </a:xfrm>
          <a:prstGeom prst="rect">
            <a:avLst/>
          </a:prstGeom>
          <a:noFill/>
          <a:ln w="0">
            <a:noFill/>
          </a:ln>
        </p:spPr>
        <p:txBody>
          <a:bodyPr lIns="0" rIns="0" tIns="0" bIns="0" anchor="t">
            <a:noAutofit/>
          </a:bodyPr>
          <a:p>
            <a:pPr indent="0" defTabSz="914400">
              <a:lnSpc>
                <a:spcPct val="100000"/>
              </a:lnSpc>
              <a:buNone/>
              <a:tabLst>
                <a:tab algn="l" pos="0"/>
              </a:tabLst>
            </a:pPr>
            <a:r>
              <a:rPr b="1" lang="en-US" sz="3600" spc="-1" strike="noStrike">
                <a:solidFill>
                  <a:schemeClr val="lt1"/>
                </a:solidFill>
                <a:latin typeface="Cambria"/>
              </a:rPr>
              <a:t>K</a:t>
            </a:r>
            <a:r>
              <a:rPr b="1" lang="en-US" sz="3600" spc="-1" strike="noStrike">
                <a:solidFill>
                  <a:schemeClr val="lt1"/>
                </a:solidFill>
                <a:latin typeface="Cambria"/>
              </a:rPr>
              <a:t>e</a:t>
            </a:r>
            <a:r>
              <a:rPr b="1" lang="en-US" sz="3600" spc="-1" strike="noStrike">
                <a:solidFill>
                  <a:schemeClr val="lt1"/>
                </a:solidFill>
                <a:latin typeface="Cambria"/>
              </a:rPr>
              <a:t>y </a:t>
            </a:r>
            <a:r>
              <a:rPr b="1" lang="en-US" sz="3600" spc="-1" strike="noStrike">
                <a:solidFill>
                  <a:schemeClr val="lt1"/>
                </a:solidFill>
                <a:latin typeface="Cambria"/>
              </a:rPr>
              <a:t>t</a:t>
            </a:r>
            <a:r>
              <a:rPr b="1" lang="en-US" sz="3600" spc="-1" strike="noStrike">
                <a:solidFill>
                  <a:schemeClr val="lt1"/>
                </a:solidFill>
                <a:latin typeface="Cambria"/>
              </a:rPr>
              <a:t>a</a:t>
            </a:r>
            <a:r>
              <a:rPr b="1" lang="en-US" sz="3600" spc="-1" strike="noStrike">
                <a:solidFill>
                  <a:schemeClr val="lt1"/>
                </a:solidFill>
                <a:latin typeface="Cambria"/>
              </a:rPr>
              <a:t>k</a:t>
            </a:r>
            <a:r>
              <a:rPr b="1" lang="en-US" sz="3600" spc="-1" strike="noStrike">
                <a:solidFill>
                  <a:schemeClr val="lt1"/>
                </a:solidFill>
                <a:latin typeface="Cambria"/>
              </a:rPr>
              <a:t>e</a:t>
            </a:r>
            <a:r>
              <a:rPr b="1" lang="en-US" sz="3600" spc="-1" strike="noStrike">
                <a:solidFill>
                  <a:schemeClr val="lt1"/>
                </a:solidFill>
                <a:latin typeface="Cambria"/>
              </a:rPr>
              <a:t>a</a:t>
            </a:r>
            <a:r>
              <a:rPr b="1" lang="en-US" sz="3600" spc="-1" strike="noStrike">
                <a:solidFill>
                  <a:schemeClr val="lt1"/>
                </a:solidFill>
                <a:latin typeface="Cambria"/>
              </a:rPr>
              <a:t>w</a:t>
            </a:r>
            <a:r>
              <a:rPr b="1" lang="en-US" sz="3600" spc="-1" strike="noStrike">
                <a:solidFill>
                  <a:schemeClr val="lt1"/>
                </a:solidFill>
                <a:latin typeface="Cambria"/>
              </a:rPr>
              <a:t>a</a:t>
            </a:r>
            <a:r>
              <a:rPr b="1" lang="en-US" sz="3600" spc="-1" strike="noStrike">
                <a:solidFill>
                  <a:schemeClr val="lt1"/>
                </a:solidFill>
                <a:latin typeface="Cambria"/>
              </a:rPr>
              <a:t>y</a:t>
            </a:r>
            <a:r>
              <a:rPr b="1" lang="en-US" sz="3600" spc="-1" strike="noStrike">
                <a:solidFill>
                  <a:schemeClr val="lt1"/>
                </a:solidFill>
                <a:latin typeface="Cambria"/>
              </a:rPr>
              <a:t>s</a:t>
            </a:r>
            <a:endParaRPr b="0" lang="en-IN" sz="3600" spc="-1" strike="noStrike">
              <a:solidFill>
                <a:schemeClr val="dk1"/>
              </a:solidFill>
              <a:latin typeface="Calibri"/>
            </a:endParaRPr>
          </a:p>
        </p:txBody>
      </p:sp>
      <p:sp>
        <p:nvSpPr>
          <p:cNvPr id="225" name="Text 1"/>
          <p:cNvSpPr/>
          <p:nvPr/>
        </p:nvSpPr>
        <p:spPr>
          <a:xfrm>
            <a:off x="548640" y="1325880"/>
            <a:ext cx="4205880" cy="292572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1001"/>
              </a:spcAft>
              <a:buClr>
                <a:srgbClr val="ffffff"/>
              </a:buClr>
              <a:buFont typeface="Symbol" charset="2"/>
              <a:buChar char=""/>
            </a:pPr>
            <a:r>
              <a:rPr b="0" lang="en-US" sz="1600" spc="-1" strike="noStrike">
                <a:solidFill>
                  <a:schemeClr val="lt1"/>
                </a:solidFill>
                <a:latin typeface="Calibri"/>
              </a:rPr>
              <a:t>Split until pieces are trivially sorted, then merge upward</a:t>
            </a:r>
            <a:endParaRPr b="0" lang="en-IN" sz="1600" spc="-1" strike="noStrike">
              <a:solidFill>
                <a:srgbClr val="ffffff"/>
              </a:solidFill>
              <a:latin typeface="Arial"/>
            </a:endParaRPr>
          </a:p>
          <a:p>
            <a:pPr marL="343080" indent="-343080" defTabSz="914400">
              <a:lnSpc>
                <a:spcPct val="100000"/>
              </a:lnSpc>
              <a:spcAft>
                <a:spcPts val="1001"/>
              </a:spcAft>
              <a:buClr>
                <a:srgbClr val="ffffff"/>
              </a:buClr>
              <a:buFont typeface="Symbol" charset="2"/>
              <a:buChar char=""/>
            </a:pPr>
            <a:r>
              <a:rPr b="0" lang="en-US" sz="1600" spc="-1" strike="noStrike">
                <a:solidFill>
                  <a:schemeClr val="lt1"/>
                </a:solidFill>
                <a:latin typeface="Calibri"/>
              </a:rPr>
              <a:t>merge does the real work: compare fronts, take the smaller</a:t>
            </a:r>
            <a:endParaRPr b="0" lang="en-IN" sz="1600" spc="-1" strike="noStrike">
              <a:solidFill>
                <a:srgbClr val="ffffff"/>
              </a:solidFill>
              <a:latin typeface="Arial"/>
            </a:endParaRPr>
          </a:p>
          <a:p>
            <a:pPr marL="343080" indent="-343080" defTabSz="914400">
              <a:lnSpc>
                <a:spcPct val="100000"/>
              </a:lnSpc>
              <a:spcAft>
                <a:spcPts val="1001"/>
              </a:spcAft>
              <a:buClr>
                <a:srgbClr val="ffffff"/>
              </a:buClr>
              <a:buFont typeface="Symbol" charset="2"/>
              <a:buChar char=""/>
            </a:pPr>
            <a:r>
              <a:rPr b="0" lang="en-US" sz="1600" spc="-1" strike="noStrike">
                <a:solidFill>
                  <a:schemeClr val="lt1"/>
                </a:solidFill>
                <a:latin typeface="Calibri"/>
              </a:rPr>
              <a:t>O(n log n) time in every case, O(n) extra space</a:t>
            </a:r>
            <a:endParaRPr b="0" lang="en-IN" sz="1600" spc="-1" strike="noStrike">
              <a:solidFill>
                <a:srgbClr val="ffffff"/>
              </a:solidFill>
              <a:latin typeface="Arial"/>
            </a:endParaRPr>
          </a:p>
          <a:p>
            <a:pPr marL="343080" indent="-343080" defTabSz="914400">
              <a:lnSpc>
                <a:spcPct val="100000"/>
              </a:lnSpc>
              <a:buClr>
                <a:srgbClr val="ffffff"/>
              </a:buClr>
              <a:buFont typeface="Symbol" charset="2"/>
              <a:buChar char=""/>
            </a:pPr>
            <a:r>
              <a:rPr b="0" lang="en-US" sz="1600" spc="-1" strike="noStrike">
                <a:solidFill>
                  <a:schemeClr val="lt1"/>
                </a:solidFill>
                <a:latin typeface="Calibri"/>
              </a:rPr>
              <a:t>Stable and predictable — easily handles n = 10⁶</a:t>
            </a:r>
            <a:endParaRPr b="0" lang="en-IN" sz="1600" spc="-1" strike="noStrike">
              <a:solidFill>
                <a:srgbClr val="ffffff"/>
              </a:solidFill>
              <a:latin typeface="Arial"/>
            </a:endParaRPr>
          </a:p>
        </p:txBody>
      </p:sp>
      <p:sp>
        <p:nvSpPr>
          <p:cNvPr id="226" name="Text 2"/>
          <p:cNvSpPr/>
          <p:nvPr/>
        </p:nvSpPr>
        <p:spPr>
          <a:xfrm>
            <a:off x="5212080" y="1325880"/>
            <a:ext cx="338292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00" spc="-1" strike="noStrike">
                <a:solidFill>
                  <a:schemeClr val="accent3"/>
                </a:solidFill>
                <a:latin typeface="Calibri"/>
              </a:rPr>
              <a:t>Where you'll meet it</a:t>
            </a:r>
            <a:endParaRPr b="0" lang="en-IN" sz="1600" spc="-1" strike="noStrike">
              <a:solidFill>
                <a:srgbClr val="ffffff"/>
              </a:solidFill>
              <a:latin typeface="Arial"/>
            </a:endParaRPr>
          </a:p>
        </p:txBody>
      </p:sp>
      <p:sp>
        <p:nvSpPr>
          <p:cNvPr id="227" name="Shape 3"/>
          <p:cNvSpPr/>
          <p:nvPr/>
        </p:nvSpPr>
        <p:spPr>
          <a:xfrm>
            <a:off x="5212080" y="1828800"/>
            <a:ext cx="456840" cy="456840"/>
          </a:xfrm>
          <a:prstGeom prst="ellipse">
            <a:avLst/>
          </a:prstGeom>
          <a:solidFill>
            <a:srgbClr val="ff6b5b"/>
          </a:solidFill>
          <a:ln w="12700">
            <a:solidFill>
              <a:srgbClr val="ff6b5b"/>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pic>
        <p:nvPicPr>
          <p:cNvPr id="228" name="Image 0" descr="preencoded.png"/>
          <p:cNvPicPr/>
          <p:nvPr/>
        </p:nvPicPr>
        <p:blipFill>
          <a:blip r:embed="rId1"/>
          <a:stretch/>
        </p:blipFill>
        <p:spPr>
          <a:xfrm>
            <a:off x="5330880" y="1947600"/>
            <a:ext cx="219240" cy="219240"/>
          </a:xfrm>
          <a:prstGeom prst="rect">
            <a:avLst/>
          </a:prstGeom>
          <a:ln w="0">
            <a:noFill/>
          </a:ln>
        </p:spPr>
      </p:pic>
      <p:sp>
        <p:nvSpPr>
          <p:cNvPr id="229" name="Text 4"/>
          <p:cNvSpPr/>
          <p:nvPr/>
        </p:nvSpPr>
        <p:spPr>
          <a:xfrm>
            <a:off x="5806440" y="1828800"/>
            <a:ext cx="28342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chemeClr val="lt1"/>
                </a:solidFill>
                <a:latin typeface="Calibri"/>
              </a:rPr>
              <a:t>External sorting of huge files</a:t>
            </a:r>
            <a:endParaRPr b="0" lang="en-IN" sz="1400" spc="-1" strike="noStrike">
              <a:solidFill>
                <a:srgbClr val="ffffff"/>
              </a:solidFill>
              <a:latin typeface="Arial"/>
            </a:endParaRPr>
          </a:p>
        </p:txBody>
      </p:sp>
      <p:sp>
        <p:nvSpPr>
          <p:cNvPr id="230" name="Shape 5"/>
          <p:cNvSpPr/>
          <p:nvPr/>
        </p:nvSpPr>
        <p:spPr>
          <a:xfrm>
            <a:off x="5212080" y="2468880"/>
            <a:ext cx="456840" cy="456840"/>
          </a:xfrm>
          <a:prstGeom prst="ellipse">
            <a:avLst/>
          </a:prstGeom>
          <a:solidFill>
            <a:srgbClr val="6c63ff"/>
          </a:solidFill>
          <a:ln w="12700">
            <a:solidFill>
              <a:srgbClr val="6c63ff"/>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pic>
        <p:nvPicPr>
          <p:cNvPr id="231" name="Image 1" descr="preencoded.png"/>
          <p:cNvPicPr/>
          <p:nvPr/>
        </p:nvPicPr>
        <p:blipFill>
          <a:blip r:embed="rId2"/>
          <a:stretch/>
        </p:blipFill>
        <p:spPr>
          <a:xfrm>
            <a:off x="5330880" y="2587680"/>
            <a:ext cx="219240" cy="219240"/>
          </a:xfrm>
          <a:prstGeom prst="rect">
            <a:avLst/>
          </a:prstGeom>
          <a:ln w="0">
            <a:noFill/>
          </a:ln>
        </p:spPr>
      </p:pic>
      <p:sp>
        <p:nvSpPr>
          <p:cNvPr id="232" name="Text 6"/>
          <p:cNvSpPr/>
          <p:nvPr/>
        </p:nvSpPr>
        <p:spPr>
          <a:xfrm>
            <a:off x="5806440" y="2468880"/>
            <a:ext cx="28342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chemeClr val="lt1"/>
                </a:solidFill>
                <a:latin typeface="Calibri"/>
              </a:rPr>
              <a:t>Sorting linked lists</a:t>
            </a:r>
            <a:endParaRPr b="0" lang="en-IN" sz="1400" spc="-1" strike="noStrike">
              <a:solidFill>
                <a:srgbClr val="ffffff"/>
              </a:solidFill>
              <a:latin typeface="Arial"/>
            </a:endParaRPr>
          </a:p>
        </p:txBody>
      </p:sp>
      <p:sp>
        <p:nvSpPr>
          <p:cNvPr id="233" name="Shape 7"/>
          <p:cNvSpPr/>
          <p:nvPr/>
        </p:nvSpPr>
        <p:spPr>
          <a:xfrm>
            <a:off x="5212080" y="3108960"/>
            <a:ext cx="456840" cy="456840"/>
          </a:xfrm>
          <a:prstGeom prst="ellipse">
            <a:avLst/>
          </a:prstGeom>
          <a:solidFill>
            <a:srgbClr val="1fa99b"/>
          </a:solidFill>
          <a:ln w="12700">
            <a:solidFill>
              <a:srgbClr val="1fa99b"/>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pic>
        <p:nvPicPr>
          <p:cNvPr id="234" name="Image 2" descr="preencoded.png"/>
          <p:cNvPicPr/>
          <p:nvPr/>
        </p:nvPicPr>
        <p:blipFill>
          <a:blip r:embed="rId3"/>
          <a:stretch/>
        </p:blipFill>
        <p:spPr>
          <a:xfrm>
            <a:off x="5330880" y="3227760"/>
            <a:ext cx="219240" cy="219240"/>
          </a:xfrm>
          <a:prstGeom prst="rect">
            <a:avLst/>
          </a:prstGeom>
          <a:ln w="0">
            <a:noFill/>
          </a:ln>
        </p:spPr>
      </p:pic>
      <p:sp>
        <p:nvSpPr>
          <p:cNvPr id="235" name="Text 8"/>
          <p:cNvSpPr/>
          <p:nvPr/>
        </p:nvSpPr>
        <p:spPr>
          <a:xfrm>
            <a:off x="5806440" y="3108960"/>
            <a:ext cx="28342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chemeClr val="lt1"/>
                </a:solidFill>
                <a:latin typeface="Calibri"/>
              </a:rPr>
              <a:t>Parallel and multi-core sorting</a:t>
            </a:r>
            <a:endParaRPr b="0" lang="en-IN" sz="1400" spc="-1" strike="noStrike">
              <a:solidFill>
                <a:srgbClr val="ffffff"/>
              </a:solidFill>
              <a:latin typeface="Arial"/>
            </a:endParaRPr>
          </a:p>
        </p:txBody>
      </p:sp>
      <p:sp>
        <p:nvSpPr>
          <p:cNvPr id="236" name="Shape 9"/>
          <p:cNvSpPr/>
          <p:nvPr/>
        </p:nvSpPr>
        <p:spPr>
          <a:xfrm>
            <a:off x="5212080" y="3749040"/>
            <a:ext cx="456840" cy="456840"/>
          </a:xfrm>
          <a:prstGeom prst="ellipse">
            <a:avLst/>
          </a:prstGeom>
          <a:solidFill>
            <a:srgbClr val="f2a93b"/>
          </a:solidFill>
          <a:ln w="12700">
            <a:solidFill>
              <a:srgbClr val="f2a93b"/>
            </a:solidFill>
            <a:round/>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pic>
        <p:nvPicPr>
          <p:cNvPr id="237" name="Image 3" descr="preencoded.png"/>
          <p:cNvPicPr/>
          <p:nvPr/>
        </p:nvPicPr>
        <p:blipFill>
          <a:blip r:embed="rId4"/>
          <a:stretch/>
        </p:blipFill>
        <p:spPr>
          <a:xfrm>
            <a:off x="5330880" y="3867840"/>
            <a:ext cx="219240" cy="219240"/>
          </a:xfrm>
          <a:prstGeom prst="rect">
            <a:avLst/>
          </a:prstGeom>
          <a:ln w="0">
            <a:noFill/>
          </a:ln>
        </p:spPr>
      </p:pic>
      <p:sp>
        <p:nvSpPr>
          <p:cNvPr id="238" name="Text 10"/>
          <p:cNvSpPr/>
          <p:nvPr/>
        </p:nvSpPr>
        <p:spPr>
          <a:xfrm>
            <a:off x="5806440" y="3749040"/>
            <a:ext cx="28342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chemeClr val="lt1"/>
                </a:solidFill>
                <a:latin typeface="Calibri"/>
              </a:rPr>
              <a:t>Stable sorts in language libraries</a:t>
            </a:r>
            <a:endParaRPr b="0" lang="en-IN" sz="1400" spc="-1" strike="noStrike">
              <a:solidFill>
                <a:srgbClr val="ffffff"/>
              </a:solidFill>
              <a:latin typeface="Arial"/>
            </a:endParaRPr>
          </a:p>
        </p:txBody>
      </p:sp>
      <p:sp>
        <p:nvSpPr>
          <p:cNvPr id="239" name="Text 11"/>
          <p:cNvSpPr/>
          <p:nvPr/>
        </p:nvSpPr>
        <p:spPr>
          <a:xfrm>
            <a:off x="548640" y="4617720"/>
            <a:ext cx="804636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100" spc="-1" strike="noStrike">
                <a:solidFill>
                  <a:schemeClr val="accent6"/>
                </a:solidFill>
                <a:latin typeface="Calibri"/>
              </a:rPr>
              <a:t>PRADUM MESHRAM  ·  PRN 25070521189  ·  Created with Claude Opus 5.5</a:t>
            </a:r>
            <a:endParaRPr b="0" lang="en-IN"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erge Sort">
  <a:themeElements>
    <a:clrScheme name="Merge Sort">
      <a:dk1>
        <a:srgbClr val="1c1a33"/>
      </a:dk1>
      <a:lt1>
        <a:srgbClr val="ffffff"/>
      </a:lt1>
      <a:dk2>
        <a:srgbClr val="5b5878"/>
      </a:dk2>
      <a:lt2>
        <a:srgbClr val="f3f2f8"/>
      </a:lt2>
      <a:accent1>
        <a:srgbClr val="ff6b5b"/>
      </a:accent1>
      <a:accent2>
        <a:srgbClr val="1fa99b"/>
      </a:accent2>
      <a:accent3>
        <a:srgbClr val="f2a93b"/>
      </a:accent3>
      <a:accent4>
        <a:srgbClr val="6c63ff"/>
      </a:accent4>
      <a:accent5>
        <a:srgbClr val="2b2850"/>
      </a:accent5>
      <a:accent6>
        <a:srgbClr val="d9d6ea"/>
      </a:accent6>
      <a:hlink>
        <a:srgbClr val="6c63ff"/>
      </a:hlink>
      <a:folHlink>
        <a:srgbClr val="5b5878"/>
      </a:folHlink>
    </a:clrScheme>
    <a:fontScheme name="Merge Sort">
      <a:majorFont>
        <a:latin typeface="Cambria"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Merge Sort">
  <a:themeElements>
    <a:clrScheme name="Merge Sort">
      <a:dk1>
        <a:srgbClr val="1c1a33"/>
      </a:dk1>
      <a:lt1>
        <a:srgbClr val="ffffff"/>
      </a:lt1>
      <a:dk2>
        <a:srgbClr val="5b5878"/>
      </a:dk2>
      <a:lt2>
        <a:srgbClr val="f3f2f8"/>
      </a:lt2>
      <a:accent1>
        <a:srgbClr val="ff6b5b"/>
      </a:accent1>
      <a:accent2>
        <a:srgbClr val="1fa99b"/>
      </a:accent2>
      <a:accent3>
        <a:srgbClr val="f2a93b"/>
      </a:accent3>
      <a:accent4>
        <a:srgbClr val="6c63ff"/>
      </a:accent4>
      <a:accent5>
        <a:srgbClr val="2b2850"/>
      </a:accent5>
      <a:accent6>
        <a:srgbClr val="d9d6ea"/>
      </a:accent6>
      <a:hlink>
        <a:srgbClr val="6c63ff"/>
      </a:hlink>
      <a:folHlink>
        <a:srgbClr val="5b5878"/>
      </a:folHlink>
    </a:clrScheme>
    <a:fontScheme name="Merge Sort">
      <a:majorFont>
        <a:latin typeface="Cambria"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Merge Sort">
  <a:themeElements>
    <a:clrScheme name="Merge Sort">
      <a:dk1>
        <a:srgbClr val="1c1a33"/>
      </a:dk1>
      <a:lt1>
        <a:srgbClr val="ffffff"/>
      </a:lt1>
      <a:dk2>
        <a:srgbClr val="5b5878"/>
      </a:dk2>
      <a:lt2>
        <a:srgbClr val="f3f2f8"/>
      </a:lt2>
      <a:accent1>
        <a:srgbClr val="ff6b5b"/>
      </a:accent1>
      <a:accent2>
        <a:srgbClr val="1fa99b"/>
      </a:accent2>
      <a:accent3>
        <a:srgbClr val="f2a93b"/>
      </a:accent3>
      <a:accent4>
        <a:srgbClr val="6c63ff"/>
      </a:accent4>
      <a:accent5>
        <a:srgbClr val="2b2850"/>
      </a:accent5>
      <a:accent6>
        <a:srgbClr val="d9d6ea"/>
      </a:accent6>
      <a:hlink>
        <a:srgbClr val="6c63ff"/>
      </a:hlink>
      <a:folHlink>
        <a:srgbClr val="5b5878"/>
      </a:folHlink>
    </a:clrScheme>
    <a:fontScheme name="Merge Sort">
      <a:majorFont>
        <a:latin typeface="Cambria"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2026-10-19T15:54:08Z</dcterms:created>
  <dc:creator>Padmaja Thakre</dc:creator>
  <dc:description/>
  <dc:language>en-IN</dc:language>
  <cp:lastModifiedBy/>
  <dcterms:modified xsi:type="dcterms:W3CDTF">2026-10-20T13:42:17Z</dcterms:modified>
  <cp:revision>2</cp:revision>
  <dc:subject>PptxGenJS Presentation</dc:subject>
  <dc:title>Merge Sort - Divide and Conquer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